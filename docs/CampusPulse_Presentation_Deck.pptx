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respected evaluators, teachers, and panel members. Today we are presenting CampusPulse — an enterprise-grade university event discovery, live engagement, and institutional reporting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traditional university environments, event coordination is fragmented across unorganized WhatsApp chats, manual paper forms leading to seat overbooking, and negligible student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CampusPulse solves these problems with a unified, 4-pillar solution: a centralized event directory, simple 1-click registration with capacity limits, live Q&amp;A with upvoting, and automated accreditation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Sir, our project is built using a standard 3-Tier Architecture: Frontend, Backend, and Database. For the frontend, we use React and Next.js with Tailwind CSS for a responsive UI. For the backend, we use Node.js and NextAuth for secure student and admin login. For the database, we use MongoDB Atlas to store all event and user records. Finally, using Capacitor, we also compiled it into an Android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is our Event Discovery catalog. Students can browse, filter across Technical, Cultural, and Sports categories, search in real time, and share event links to WhatsApp or Telegram with one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handles simple 1-click registration. We enforce atomic seat capacity locks to completely prevent overbooking, and provide students with an immediate confirmation card and flexible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is our Live Q&amp;A engagement engine. Students can submit questions during guest lectures and upvote trending queries. Organizers can pin critical updates and reply with official badges.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is our Dynamic Feedback Builder. Coordinators configure custom question surveys, and the system automatically calculates average ratings and Net Promoter Scores for institutional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provides a high-resolution media showcase and our 1-click executive report generator. It compiles attendance data, objectives, and feedback into a clean printable PDF required for college accreditation.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Sir, Slide 10 explains the complete User Workflow and Data Flow. A student logs in, discovers events, and registers with 1 click. During the event, they participate in live Q&amp;A, and post-event they submit feedback. On the coordinator side, all registrations and feedback are tracked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Slide 11, we cover system testing. We conducted functional testing on core modules: verifying that capacity locks prevent overbooking, upvoting cannot be duplicated, unauthorized users cannot access admin pages, and forms validate correctly across mobile and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CampusPulse provides an end-to-end, paperless campus event ecosystem. In the future, we plan to integrate AI event recommendations and automated certificate generation. Thank you, and we welcome any questions from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731520"/>
            <a:ext cx="2926080" cy="365760"/>
          </a:xfrm>
          <a:prstGeom prst="roundRect">
            <a:avLst>
              <a:gd name="adj" fmla="val 25000"/>
            </a:avLst>
          </a:prstGeom>
          <a:solidFill>
            <a:srgbClr val="1E2638"/>
          </a:solidFill>
          <a:ln w="12700">
            <a:solidFill>
              <a:srgbClr val="6366F1"/>
            </a:solidFill>
            <a:prstDash val="solid"/>
          </a:ln>
        </p:spPr>
      </p:sp>
      <p:sp>
        <p:nvSpPr>
          <p:cNvPr id="3" name="Text 1"/>
          <p:cNvSpPr/>
          <p:nvPr/>
        </p:nvSpPr>
        <p:spPr>
          <a:xfrm>
            <a:off x="731520" y="731520"/>
            <a:ext cx="2926080" cy="365760"/>
          </a:xfrm>
          <a:prstGeom prst="rect">
            <a:avLst/>
          </a:prstGeom>
          <a:noFill/>
          <a:ln/>
        </p:spPr>
        <p:txBody>
          <a:bodyPr wrap="square" rtlCol="0" anchor="ctr"/>
          <a:lstStyle/>
          <a:p>
            <a:pPr algn="ctr" indent="0" marL="0">
              <a:buNone/>
            </a:pPr>
            <a:r>
              <a:rPr lang="en-US" sz="1000" b="1" spc="120" kern="0" dirty="0">
                <a:solidFill>
                  <a:srgbClr val="6366F1"/>
                </a:solidFill>
                <a:latin typeface="Segoe UI" pitchFamily="34" charset="0"/>
                <a:ea typeface="Segoe UI" pitchFamily="34" charset="-122"/>
                <a:cs typeface="Segoe UI" pitchFamily="34" charset="-120"/>
              </a:rPr>
              <a:t>FINAL YEAR MAJOR PROJECT</a:t>
            </a:r>
            <a:endParaRPr lang="en-US" sz="1000" dirty="0"/>
          </a:p>
        </p:txBody>
      </p:sp>
      <p:sp>
        <p:nvSpPr>
          <p:cNvPr id="4" name="Text 2"/>
          <p:cNvSpPr/>
          <p:nvPr/>
        </p:nvSpPr>
        <p:spPr>
          <a:xfrm>
            <a:off x="731520" y="1234440"/>
            <a:ext cx="10058400" cy="1097280"/>
          </a:xfrm>
          <a:prstGeom prst="rect">
            <a:avLst/>
          </a:prstGeom>
          <a:noFill/>
          <a:ln/>
        </p:spPr>
        <p:txBody>
          <a:bodyPr wrap="square"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CampusPulse</a:t>
            </a:r>
            <a:endParaRPr lang="en-US" sz="4800" dirty="0"/>
          </a:p>
        </p:txBody>
      </p:sp>
      <p:sp>
        <p:nvSpPr>
          <p:cNvPr id="5" name="Text 3"/>
          <p:cNvSpPr/>
          <p:nvPr/>
        </p:nvSpPr>
        <p:spPr>
          <a:xfrm>
            <a:off x="731520" y="2331720"/>
            <a:ext cx="10515600" cy="548640"/>
          </a:xfrm>
          <a:prstGeom prst="rect">
            <a:avLst/>
          </a:prstGeom>
          <a:noFill/>
          <a:ln/>
        </p:spPr>
        <p:txBody>
          <a:bodyPr wrap="square" rtlCol="0" anchor="ctr"/>
          <a:lstStyle/>
          <a:p>
            <a:pPr indent="0" marL="0">
              <a:buNone/>
            </a:pPr>
            <a:r>
              <a:rPr lang="en-US" sz="1600" b="1" dirty="0">
                <a:solidFill>
                  <a:srgbClr val="8B5CF6"/>
                </a:solidFill>
                <a:latin typeface="Segoe UI" pitchFamily="34" charset="0"/>
                <a:ea typeface="Segoe UI" pitchFamily="34" charset="-122"/>
                <a:cs typeface="Segoe UI" pitchFamily="34" charset="-120"/>
              </a:rPr>
              <a:t>Enterprise Campus Event Discovery, Real-Time Engagement &amp; Institutional Analytics Platform</a:t>
            </a:r>
            <a:endParaRPr lang="en-US" sz="1600" dirty="0"/>
          </a:p>
        </p:txBody>
      </p:sp>
      <p:sp>
        <p:nvSpPr>
          <p:cNvPr id="6" name="Text 4"/>
          <p:cNvSpPr/>
          <p:nvPr/>
        </p:nvSpPr>
        <p:spPr>
          <a:xfrm>
            <a:off x="731520" y="2971800"/>
            <a:ext cx="10058400" cy="640080"/>
          </a:xfrm>
          <a:prstGeom prst="rect">
            <a:avLst/>
          </a:prstGeom>
          <a:noFill/>
          <a:ln/>
        </p:spPr>
        <p:txBody>
          <a:bodyPr wrap="square" rtlCol="0" anchor="ctr"/>
          <a:lstStyle/>
          <a:p>
            <a:pPr indent="0" marL="0">
              <a:lnSpc>
                <a:spcPts val="1800"/>
              </a:lnSpc>
              <a:buNone/>
            </a:pPr>
            <a:r>
              <a:rPr lang="en-US" sz="1200" dirty="0">
                <a:solidFill>
                  <a:srgbClr val="94A3B8"/>
                </a:solidFill>
                <a:latin typeface="Calibri" pitchFamily="34" charset="0"/>
                <a:ea typeface="Calibri" pitchFamily="34" charset="-122"/>
                <a:cs typeface="Calibri" pitchFamily="34" charset="-120"/>
              </a:rPr>
              <a:t>A Next.js 16 &amp; MongoDB Atlas production ecosystem featuring simple 1-click registration, live Q&amp;A with upvoting, dynamic feedback surveys, and automated executive PDF accreditation reports.</a:t>
            </a:r>
            <a:endParaRPr lang="en-US" sz="1200" dirty="0"/>
          </a:p>
        </p:txBody>
      </p:sp>
      <p:sp>
        <p:nvSpPr>
          <p:cNvPr id="7" name="Shape 5"/>
          <p:cNvSpPr/>
          <p:nvPr/>
        </p:nvSpPr>
        <p:spPr>
          <a:xfrm>
            <a:off x="731520" y="3931920"/>
            <a:ext cx="5120640" cy="2194560"/>
          </a:xfrm>
          <a:prstGeom prst="roundRect">
            <a:avLst>
              <a:gd name="adj" fmla="val 6250"/>
            </a:avLst>
          </a:prstGeom>
          <a:solidFill>
            <a:srgbClr val="141A29"/>
          </a:solidFill>
          <a:ln w="12700">
            <a:solidFill>
              <a:srgbClr val="232D42"/>
            </a:solidFill>
            <a:prstDash val="solid"/>
          </a:ln>
        </p:spPr>
      </p:sp>
      <p:sp>
        <p:nvSpPr>
          <p:cNvPr id="8" name="Text 6"/>
          <p:cNvSpPr/>
          <p:nvPr/>
        </p:nvSpPr>
        <p:spPr>
          <a:xfrm>
            <a:off x="1005840" y="4114800"/>
            <a:ext cx="4572000" cy="274320"/>
          </a:xfrm>
          <a:prstGeom prst="rect">
            <a:avLst/>
          </a:prstGeom>
          <a:noFill/>
          <a:ln/>
        </p:spPr>
        <p:txBody>
          <a:bodyPr wrap="square" rtlCol="0" anchor="ctr"/>
          <a:lstStyle/>
          <a:p>
            <a:pPr indent="0" marL="0">
              <a:buNone/>
            </a:pPr>
            <a:r>
              <a:rPr lang="en-US" sz="1000" b="1" dirty="0">
                <a:solidFill>
                  <a:srgbClr val="6366F1"/>
                </a:solidFill>
                <a:latin typeface="Segoe UI" pitchFamily="34" charset="0"/>
                <a:ea typeface="Segoe UI" pitchFamily="34" charset="-122"/>
                <a:cs typeface="Segoe UI" pitchFamily="34" charset="-120"/>
              </a:rPr>
              <a:t>SUBMITTED BY (STUDENT TEAM):</a:t>
            </a:r>
            <a:endParaRPr lang="en-US" sz="1000" dirty="0"/>
          </a:p>
        </p:txBody>
      </p:sp>
      <p:sp>
        <p:nvSpPr>
          <p:cNvPr id="9" name="Text 7"/>
          <p:cNvSpPr/>
          <p:nvPr/>
        </p:nvSpPr>
        <p:spPr>
          <a:xfrm>
            <a:off x="1005840" y="4434840"/>
            <a:ext cx="4572000" cy="1463040"/>
          </a:xfrm>
          <a:prstGeom prst="rect">
            <a:avLst/>
          </a:prstGeom>
          <a:noFill/>
          <a:ln/>
        </p:spPr>
        <p:txBody>
          <a:bodyPr wrap="square" rtlCol="0" anchor="ctr"/>
          <a:lstStyle/>
          <a:p>
            <a:pPr indent="0" marL="0">
              <a:lnSpc>
                <a:spcPts val="1800"/>
              </a:lnSpc>
              <a:buNone/>
            </a:pPr>
            <a:r>
              <a:rPr lang="en-US" sz="1100" b="1" dirty="0">
                <a:solidFill>
                  <a:srgbClr val="FFFFFF"/>
                </a:solidFill>
                <a:latin typeface="Calibri" pitchFamily="34" charset="0"/>
                <a:ea typeface="Calibri" pitchFamily="34" charset="-122"/>
                <a:cs typeface="Calibri" pitchFamily="34" charset="-120"/>
              </a:rPr>
              <a:t>• [STUDENT 1 NAME] — Roll No: [ROLL NUMBER]
</a:t>
            </a:r>
            <a:pPr indent="0" marL="0">
              <a:lnSpc>
                <a:spcPts val="1800"/>
              </a:lnSpc>
              <a:buNone/>
            </a:pPr>
            <a:r>
              <a:rPr lang="en-US" sz="1100" b="1" dirty="0">
                <a:solidFill>
                  <a:srgbClr val="FFFFFF"/>
                </a:solidFill>
                <a:latin typeface="Calibri" pitchFamily="34" charset="0"/>
                <a:ea typeface="Calibri" pitchFamily="34" charset="-122"/>
                <a:cs typeface="Calibri" pitchFamily="34" charset="-120"/>
              </a:rPr>
              <a:t>• [STUDENT 2 NAME] — Roll No: [ROLL NUMBER]
</a:t>
            </a:r>
            <a:pPr indent="0" marL="0">
              <a:lnSpc>
                <a:spcPts val="1800"/>
              </a:lnSpc>
              <a:buNone/>
            </a:pPr>
            <a:r>
              <a:rPr lang="en-US" sz="1100" dirty="0">
                <a:solidFill>
                  <a:srgbClr val="94A3B8"/>
                </a:solidFill>
                <a:latin typeface="Calibri" pitchFamily="34" charset="0"/>
                <a:ea typeface="Calibri" pitchFamily="34" charset="-122"/>
                <a:cs typeface="Calibri" pitchFamily="34" charset="-120"/>
              </a:rPr>
              <a:t>• Department of Computer Science &amp; Engineering
</a:t>
            </a:r>
            <a:pPr indent="0" marL="0">
              <a:lnSpc>
                <a:spcPts val="1800"/>
              </a:lnSpc>
              <a:buNone/>
            </a:pPr>
            <a:r>
              <a:rPr lang="en-US" sz="1100" dirty="0">
                <a:solidFill>
                  <a:srgbClr val="94A3B8"/>
                </a:solidFill>
                <a:latin typeface="Calibri" pitchFamily="34" charset="0"/>
                <a:ea typeface="Calibri" pitchFamily="34" charset="-122"/>
                <a:cs typeface="Calibri" pitchFamily="34" charset="-120"/>
              </a:rPr>
              <a:t>• [INSTITUTE / UNIVERSITY NAME], Academic Year 2025–2026</a:t>
            </a:r>
            <a:endParaRPr lang="en-US" sz="1100" dirty="0"/>
          </a:p>
        </p:txBody>
      </p:sp>
      <p:sp>
        <p:nvSpPr>
          <p:cNvPr id="10" name="Shape 8"/>
          <p:cNvSpPr/>
          <p:nvPr/>
        </p:nvSpPr>
        <p:spPr>
          <a:xfrm>
            <a:off x="6217920" y="3931920"/>
            <a:ext cx="5212080" cy="2194560"/>
          </a:xfrm>
          <a:prstGeom prst="roundRect">
            <a:avLst>
              <a:gd name="adj" fmla="val 6250"/>
            </a:avLst>
          </a:prstGeom>
          <a:solidFill>
            <a:srgbClr val="141A29"/>
          </a:solidFill>
          <a:ln w="12700">
            <a:solidFill>
              <a:srgbClr val="232D42"/>
            </a:solidFill>
            <a:prstDash val="solid"/>
          </a:ln>
        </p:spPr>
      </p:sp>
      <p:sp>
        <p:nvSpPr>
          <p:cNvPr id="11" name="Text 9"/>
          <p:cNvSpPr/>
          <p:nvPr/>
        </p:nvSpPr>
        <p:spPr>
          <a:xfrm>
            <a:off x="6492240" y="4114800"/>
            <a:ext cx="4572000" cy="274320"/>
          </a:xfrm>
          <a:prstGeom prst="rect">
            <a:avLst/>
          </a:prstGeom>
          <a:noFill/>
          <a:ln/>
        </p:spPr>
        <p:txBody>
          <a:bodyPr wrap="square" rtlCol="0" anchor="ctr"/>
          <a:lstStyle/>
          <a:p>
            <a:pPr indent="0" marL="0">
              <a:buNone/>
            </a:pPr>
            <a:r>
              <a:rPr lang="en-US" sz="1000" b="1" dirty="0">
                <a:solidFill>
                  <a:srgbClr val="8B5CF6"/>
                </a:solidFill>
                <a:latin typeface="Segoe UI" pitchFamily="34" charset="0"/>
                <a:ea typeface="Segoe UI" pitchFamily="34" charset="-122"/>
                <a:cs typeface="Segoe UI" pitchFamily="34" charset="-120"/>
              </a:rPr>
              <a:t>PROJECT GUIDANCE &amp; MENTORSHIP:</a:t>
            </a:r>
            <a:endParaRPr lang="en-US" sz="1000" dirty="0"/>
          </a:p>
        </p:txBody>
      </p:sp>
      <p:sp>
        <p:nvSpPr>
          <p:cNvPr id="12" name="Text 10"/>
          <p:cNvSpPr/>
          <p:nvPr/>
        </p:nvSpPr>
        <p:spPr>
          <a:xfrm>
            <a:off x="6492240" y="4434840"/>
            <a:ext cx="4572000" cy="1463040"/>
          </a:xfrm>
          <a:prstGeom prst="rect">
            <a:avLst/>
          </a:prstGeom>
          <a:noFill/>
          <a:ln/>
        </p:spPr>
        <p:txBody>
          <a:bodyPr wrap="square" rtlCol="0" anchor="ctr"/>
          <a:lstStyle/>
          <a:p>
            <a:pPr indent="0" marL="0">
              <a:lnSpc>
                <a:spcPts val="1800"/>
              </a:lnSpc>
              <a:buNone/>
            </a:pPr>
            <a:r>
              <a:rPr lang="en-US" sz="1100" dirty="0">
                <a:solidFill>
                  <a:srgbClr val="94A3B8"/>
                </a:solidFill>
                <a:latin typeface="Calibri" pitchFamily="34" charset="0"/>
                <a:ea typeface="Calibri" pitchFamily="34" charset="-122"/>
                <a:cs typeface="Calibri" pitchFamily="34" charset="-120"/>
              </a:rPr>
              <a:t>Under the Supervision of:
</a:t>
            </a:r>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[MENTOR / PROFESSOR NAME]
</a:t>
            </a:r>
            <a:pPr indent="0" marL="0">
              <a:lnSpc>
                <a:spcPts val="1800"/>
              </a:lnSpc>
              <a:buNone/>
            </a:pPr>
            <a:r>
              <a:rPr lang="en-US" sz="1100" dirty="0">
                <a:solidFill>
                  <a:srgbClr val="8B5CF6"/>
                </a:solidFill>
                <a:latin typeface="Calibri" pitchFamily="34" charset="0"/>
                <a:ea typeface="Calibri" pitchFamily="34" charset="-122"/>
                <a:cs typeface="Calibri" pitchFamily="34" charset="-120"/>
              </a:rPr>
              <a:t>[DESIGNATION, e.g. Assistant Professor / HOD]
</a:t>
            </a:r>
            <a:pPr indent="0" marL="0">
              <a:lnSpc>
                <a:spcPts val="1800"/>
              </a:lnSpc>
              <a:buNone/>
            </a:pPr>
            <a:r>
              <a:rPr lang="en-US" sz="1100" dirty="0">
                <a:solidFill>
                  <a:srgbClr val="94A3B8"/>
                </a:solidFill>
                <a:latin typeface="Calibri" pitchFamily="34" charset="0"/>
                <a:ea typeface="Calibri" pitchFamily="34" charset="-122"/>
                <a:cs typeface="Calibri" pitchFamily="34" charset="-120"/>
              </a:rPr>
              <a:t>Department of Computer Science &amp; Engineering</a:t>
            </a:r>
            <a:endParaRPr lang="en-US" sz="1100" dirty="0"/>
          </a:p>
          <a:p>
            <a:pPr indent="0" marL="0">
              <a:lnSpc>
                <a:spcPts val="1800"/>
              </a:lnSpc>
              <a:buNone/>
            </a:pPr>
            <a:r>
              <a:rPr lang="en-US" sz="1100" dirty="0">
                <a:solidFill>
                  <a:srgbClr val="94A3B8"/>
                </a:solidFill>
                <a:latin typeface="Calibri" pitchFamily="34" charset="0"/>
                <a:ea typeface="Calibri" pitchFamily="34" charset="-122"/>
                <a:cs typeface="Calibri" pitchFamily="34" charset="-120"/>
              </a:rPr>
              <a:t>[COLLEGE / UNIVERSITY NAME]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01 / CONTEXT &amp; BACKGROUND</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Problem Statement &amp; Campus Challenges</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2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500"/>
              </a:lnSpc>
              <a:buNone/>
            </a:pPr>
            <a:r>
              <a:rPr lang="en-US" sz="1200" b="1" dirty="0">
                <a:solidFill>
                  <a:srgbClr val="6366F1"/>
                </a:solidFill>
                <a:latin typeface="Calibri" pitchFamily="34" charset="0"/>
                <a:ea typeface="Calibri" pitchFamily="34" charset="-122"/>
                <a:cs typeface="Calibri" pitchFamily="34" charset="-120"/>
              </a:rPr>
              <a:t>1. Scattered &amp; Fragmented Notice Distribution: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Event flyers and circulars get buried across multiple unorganized WhatsApp groups, chaotic email inboxes, and physical notice boards. Students frequently miss critical deadlines and venue announcements.
</a:t>
            </a:r>
            <a:pPr indent="0" marL="0">
              <a:lnSpc>
                <a:spcPts val="1500"/>
              </a:lnSpc>
              <a:buNone/>
            </a:pPr>
            <a:r>
              <a:rPr lang="en-US" sz="1200" b="1" dirty="0">
                <a:solidFill>
                  <a:srgbClr val="6366F1"/>
                </a:solidFill>
                <a:latin typeface="Calibri" pitchFamily="34" charset="0"/>
                <a:ea typeface="Calibri" pitchFamily="34" charset="-122"/>
                <a:cs typeface="Calibri" pitchFamily="34" charset="-120"/>
              </a:rPr>
              <a:t>2. Inefficient &amp; Manual Registration Queues: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Paper forms and manual spreadsheet entries create massive desk bottlenecks, handwriting errors, lost registrations, and frequent seat overbooking due to lack of real-time capacity locks.
</a:t>
            </a:r>
            <a:pPr indent="0" marL="0">
              <a:lnSpc>
                <a:spcPts val="1500"/>
              </a:lnSpc>
              <a:buNone/>
            </a:pPr>
            <a:r>
              <a:rPr lang="en-US" sz="1200" b="1" dirty="0">
                <a:solidFill>
                  <a:srgbClr val="6366F1"/>
                </a:solidFill>
                <a:latin typeface="Calibri" pitchFamily="34" charset="0"/>
                <a:ea typeface="Calibri" pitchFamily="34" charset="-122"/>
                <a:cs typeface="Calibri" pitchFamily="34" charset="-120"/>
              </a:rPr>
              <a:t>3. Low Student Feedback Participation: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Traditional post-event Google Forms see less than 10% student participation, with zero automated sentiment analysis, leaving organizers blind to attendee satisfaction.
</a:t>
            </a:r>
            <a:pPr indent="0" marL="0">
              <a:lnSpc>
                <a:spcPts val="1500"/>
              </a:lnSpc>
              <a:buNone/>
            </a:pPr>
            <a:r>
              <a:rPr lang="en-US" sz="1200" b="1" dirty="0">
                <a:solidFill>
                  <a:srgbClr val="6366F1"/>
                </a:solidFill>
                <a:latin typeface="Calibri" pitchFamily="34" charset="0"/>
                <a:ea typeface="Calibri" pitchFamily="34" charset="-122"/>
                <a:cs typeface="Calibri" pitchFamily="34" charset="-120"/>
              </a:rPr>
              <a:t>4. Heavy Accreditation (NAAC/NBA) Documentation: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Faculty coordinators spend weeks compiling attendance records, photos, and outcomes manually for institutional accreditation audits.</a:t>
            </a:r>
            <a:endParaRPr lang="en-US" sz="120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SCREENSHOT / GRAPHIC]</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Diagram showing chaotic campus paper notices, fragmented WhatsApp circulars, and long manual registration queues.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02 / STRATEGIC VISION</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Proposed Solution &amp; Project Objectives</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3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500"/>
              </a:lnSpc>
              <a:buNone/>
            </a:pPr>
            <a:r>
              <a:rPr lang="en-US" sz="1200" b="1" dirty="0">
                <a:solidFill>
                  <a:srgbClr val="8B5CF6"/>
                </a:solidFill>
                <a:latin typeface="Calibri" pitchFamily="34" charset="0"/>
                <a:ea typeface="Calibri" pitchFamily="34" charset="-122"/>
                <a:cs typeface="Calibri" pitchFamily="34" charset="-120"/>
              </a:rPr>
              <a:t>1. Centralized Campus Event Hub: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A single unified responsive web and mobile portal aggregating Technical, Cultural, Sports, and Academic Workshop events across all departments.
</a:t>
            </a:r>
            <a:pPr indent="0" marL="0">
              <a:lnSpc>
                <a:spcPts val="1500"/>
              </a:lnSpc>
              <a:buNone/>
            </a:pPr>
            <a:r>
              <a:rPr lang="en-US" sz="1200" b="1" dirty="0">
                <a:solidFill>
                  <a:srgbClr val="8B5CF6"/>
                </a:solidFill>
                <a:latin typeface="Calibri" pitchFamily="34" charset="0"/>
                <a:ea typeface="Calibri" pitchFamily="34" charset="-122"/>
                <a:cs typeface="Calibri" pitchFamily="34" charset="-120"/>
              </a:rPr>
              <a:t>2. Simple 1-Click RSVP with Capacity Control: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Instant seat reservation backed by atomic database locks to prevent overbooking, accompanied by an instant digital Registration Confirmation Card.
</a:t>
            </a:r>
            <a:pPr indent="0" marL="0">
              <a:lnSpc>
                <a:spcPts val="1500"/>
              </a:lnSpc>
              <a:buNone/>
            </a:pPr>
            <a:r>
              <a:rPr lang="en-US" sz="1200" b="1" dirty="0">
                <a:solidFill>
                  <a:srgbClr val="8B5CF6"/>
                </a:solidFill>
                <a:latin typeface="Calibri" pitchFamily="34" charset="0"/>
                <a:ea typeface="Calibri" pitchFamily="34" charset="-122"/>
                <a:cs typeface="Calibri" pitchFamily="34" charset="-120"/>
              </a:rPr>
              <a:t>3. Interactive In-Session Student Q&amp;A: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Live session engagement board with atomic deduplicated student upvotes, allowing trending questions to rise to the speaker's attention.
</a:t>
            </a:r>
            <a:pPr indent="0" marL="0">
              <a:lnSpc>
                <a:spcPts val="1500"/>
              </a:lnSpc>
              <a:buNone/>
            </a:pPr>
            <a:r>
              <a:rPr lang="en-US" sz="1200" b="1" dirty="0">
                <a:solidFill>
                  <a:srgbClr val="8B5CF6"/>
                </a:solidFill>
                <a:latin typeface="Calibri" pitchFamily="34" charset="0"/>
                <a:ea typeface="Calibri" pitchFamily="34" charset="-122"/>
                <a:cs typeface="Calibri" pitchFamily="34" charset="-120"/>
              </a:rPr>
              <a:t>4. Dynamic Feedback &amp; Automated Accreditation Reports: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Google-Forms-style survey builder with real-time Net Promoter Score (NPS) analytics and 1-Click Executive PDF Letterhead reports for college administration.</a:t>
            </a:r>
            <a:endParaRPr lang="en-US" sz="120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SCREENSHOT / DIAGRAM]</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CampusPulse high-level ecosystem diagram connecting Students, Event Coordinators, Live Q&amp;A, Feedback, and Admin Reports.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03 / TECHNICAL OVERVIEW</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System Architecture &amp; Technologies Used</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4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554480"/>
            <a:ext cx="4572000" cy="4389120"/>
          </a:xfrm>
          <a:prstGeom prst="rect">
            <a:avLst/>
          </a:prstGeom>
          <a:noFill/>
          <a:ln/>
        </p:spPr>
        <p:txBody>
          <a:bodyPr wrap="square" rtlCol="0" anchor="ctr"/>
          <a:lstStyle/>
          <a:p>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1. Frontend (User Interface):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React.js &amp; Next.js: For building clean, interactive web pages and smooth page navigation.
• Tailwind CSS: Provides a modern, responsive design that works on both mobile phones and laptops.
</a:t>
            </a:r>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2. Backend (Application Logic):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Node.js &amp; Next.js: Handles event registrations, form submissions, and user requests.
• NextAuth: Simple and secure login management for students and college admins.
</a:t>
            </a:r>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3. Database (Data Storage):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MongoDB Atlas: Cloud NoSQL database that stores user profiles, event details, and survey feedback.
• Mongoose: Connects our application easily to MongoDB with structured data schemas.
</a:t>
            </a:r>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4. Architecture &amp; Mobile Support: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3-Tier Architecture: Presentation Layer (UI) → Application Layer (Server) → Database (MongoDB).</a:t>
            </a:r>
            <a:endParaRPr lang="en-US" sz="1150" dirty="0"/>
          </a:p>
          <a:p>
            <a:pPr indent="0" marL="0">
              <a:lnSpc>
                <a:spcPts val="1400"/>
              </a:lnSpc>
              <a:buNone/>
            </a:pPr>
            <a:r>
              <a:rPr lang="en-US" sz="1000" dirty="0">
                <a:solidFill>
                  <a:srgbClr val="E2E8F0"/>
                </a:solidFill>
                <a:latin typeface="Calibri" pitchFamily="34" charset="0"/>
                <a:ea typeface="Calibri" pitchFamily="34" charset="-122"/>
                <a:cs typeface="Calibri" pitchFamily="34" charset="-120"/>
              </a:rPr>
              <a:t>• Capacitor: Packages the web project into an installable Android App (APK).</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3-TIER ARCHITECTURE DIAGRAM]</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Simple 3-tier diagram: User Interface (Web / Android) → Application Server (Node/Next.js) → Cloud Database (MongoDB Atlas).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04 / CORE FEATURES</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Module 1: Event Discovery &amp; Categorized Directory</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5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Multi-Category Academic Catalog: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Events categorized into Technical (Hackathons, Coding), Cultural (Fests, Music), Sports (Tournaments), and Academic Workshops.
</a:t>
            </a:r>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Real-Time Fuzzy Search &amp; Filtering: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Students can instantly search by title, department, tags, or venue with dynamic status toggles (Upcoming, Ongoing, Completed).
</a:t>
            </a:r>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Rich Event Detail View: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Each event showcases high-res banner media, detailed schedules, venue location, faculty coordinator contacts, and prerequisites.
</a:t>
            </a:r>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1-Click Viral Social Sharing: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Deep-linked sharing modal for WhatsApp, Telegram, LinkedIn, and X/Twitter with pre-formatted event titles and registration links.</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SCREENSHOT: /events]</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Screenshot of the CampusPulse Event Discovery Catalog showing category filter pills, search bar, and colorful event cards.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05 / CORE FEATURES</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Module 2: Simple 1-Click Registration &amp; Capacity Control</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6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Frictionless 1-Click Registration: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Logged-in students click 'Register for Event' and are instantly enrolled without filling repetitive personal details or manual forms.
</a:t>
            </a:r>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Atomic Capacity Lock (Zero Overbooking):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Database transactions atomically enforce seat limits (maxCapacity). As soon as capacity is filled, the button locks to 'Event Full'.
</a:t>
            </a:r>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Real-Time Headcount Progress Bar: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Visual progress bar showing live filled seats (e.g. '142 / 150 Seats Reserved') with dynamic color shifts as seats run low.
</a:t>
            </a:r>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Registration Details Card &amp; Cancellation: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Confirmed attendees view their name, email, seat status, and unique reference ID. Flexible 1-click cancellation immediately frees up seats for other students.</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SCREENSHOT: /events/[slug]]</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Screenshot of the Event Detail Page showing the Registration Confirmed Card, Student Details, and the Capacity Progress Bar.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06 / IN-SESSION ENGAGEMENT</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Module 3: Live Interactive Q&amp;A &amp; Upvoting Forum</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7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500"/>
              </a:lnSpc>
              <a:buNone/>
            </a:pPr>
            <a:r>
              <a:rPr lang="en-US" sz="1150" b="1" dirty="0">
                <a:solidFill>
                  <a:srgbClr val="6366F1"/>
                </a:solidFill>
                <a:latin typeface="Calibri" pitchFamily="34" charset="0"/>
                <a:ea typeface="Calibri" pitchFamily="34" charset="-122"/>
                <a:cs typeface="Calibri" pitchFamily="34" charset="-120"/>
              </a:rPr>
              <a:t>• In-Session Student Queries: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During live seminars, hackathons, and guest lectures, attendees post questions from their laptops or phones without interrupting the speaker.
</a:t>
            </a:r>
            <a:pPr indent="0" marL="0">
              <a:lnSpc>
                <a:spcPts val="1500"/>
              </a:lnSpc>
              <a:buNone/>
            </a:pPr>
            <a:r>
              <a:rPr lang="en-US" sz="1150" b="1" dirty="0">
                <a:solidFill>
                  <a:srgbClr val="6366F1"/>
                </a:solidFill>
                <a:latin typeface="Calibri" pitchFamily="34" charset="0"/>
                <a:ea typeface="Calibri" pitchFamily="34" charset="-122"/>
                <a:cs typeface="Calibri" pitchFamily="34" charset="-120"/>
              </a:rPr>
              <a:t>• Atomic Deduplicated Upvoting: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Students upvote questions they care about. MongoDB $addToSet and $pull operations strictly ensure one upvote per student per question.
</a:t>
            </a:r>
            <a:pPr indent="0" marL="0">
              <a:lnSpc>
                <a:spcPts val="1500"/>
              </a:lnSpc>
              <a:buNone/>
            </a:pPr>
            <a:r>
              <a:rPr lang="en-US" sz="1150" b="1" dirty="0">
                <a:solidFill>
                  <a:srgbClr val="6366F1"/>
                </a:solidFill>
                <a:latin typeface="Calibri" pitchFamily="34" charset="0"/>
                <a:ea typeface="Calibri" pitchFamily="34" charset="-122"/>
                <a:cs typeface="Calibri" pitchFamily="34" charset="-120"/>
              </a:rPr>
              <a:t>• Popularity Ranking Engine: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Questions are dynamically sorted by upvote count, ensuring the most urgent student queries naturally rise to the coordinator's screen.
</a:t>
            </a:r>
            <a:pPr indent="0" marL="0">
              <a:lnSpc>
                <a:spcPts val="1500"/>
              </a:lnSpc>
              <a:buNone/>
            </a:pPr>
            <a:r>
              <a:rPr lang="en-US" sz="1150" b="1" dirty="0">
                <a:solidFill>
                  <a:srgbClr val="6366F1"/>
                </a:solidFill>
                <a:latin typeface="Calibri" pitchFamily="34" charset="0"/>
                <a:ea typeface="Calibri" pitchFamily="34" charset="-122"/>
                <a:cs typeface="Calibri" pitchFamily="34" charset="-120"/>
              </a:rPr>
              <a:t>• Organizer Pinning &amp; Verified Replies: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Event coordinators and professors can pin important announcements (isPinned: true) and post official verified answers.</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SCREENSHOT: /portal/qna]</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Screenshot of the Live Q&amp;A forum showing student questions, upvote counter buttons, and an organizer's pinned answer badge.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07 / INSTITUTIONAL QUALITY</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Module 4: Dynamic Feedback &amp; NPS Survey Analytics</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8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Google-Forms-Style Dynamic Builder: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Coordinators can create custom post-event feedback forms with Star Ratings (1-5), Multiple Choice questions, and Open Text feedback.
</a:t>
            </a:r>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Automated Net Promoter Score (NPS):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The platform automatically aggregates ratings to calculate event NPS (Promoters vs Detractors) and overall average satisfaction scores.
</a:t>
            </a:r>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Student Anonymity Option: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Students can choose to submit verified or anonymous feedback, encouraging honest qualitative critique without fear.
</a:t>
            </a:r>
            <a:pPr indent="0" marL="0">
              <a:lnSpc>
                <a:spcPts val="1500"/>
              </a:lnSpc>
              <a:buNone/>
            </a:pPr>
            <a:r>
              <a:rPr lang="en-US" sz="1150" b="1" dirty="0">
                <a:solidFill>
                  <a:srgbClr val="8B5CF6"/>
                </a:solidFill>
                <a:latin typeface="Calibri" pitchFamily="34" charset="0"/>
                <a:ea typeface="Calibri" pitchFamily="34" charset="-122"/>
                <a:cs typeface="Calibri" pitchFamily="34" charset="-120"/>
              </a:rPr>
              <a:t>• Response Analytics &amp; CSV Export: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Real-time visualization of participant sentiment breakdowns, attendance-to-response conversion rates, and exportable tables.</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SCREENSHOT: Feedback Analytics]</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Screenshot of the student feedback survey form alongside the admin sentiment analytics bar chart and star rating distribution.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08 / ADMINISTRATIVE TOOLS</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Module 5: Media Vault &amp; Executive Accreditation Reports</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9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High-Resolution Media Vault: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Centralized photo gallery with full-screen lightbox inspection and MP4/WebM video clip playback with YouTube/Vimeo embed parsing.
</a:t>
            </a:r>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High-Reliability Upload Pipeline: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Stores media in local /public/uploads with an automatic Base64 Data URI fallback on read-only serverless clouds so uploads never fail.
</a:t>
            </a:r>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Automated Executive Report Generator: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Automatically compiles Chief Guest details, faculty coordinators, objectives, student attendance numbers, and feedback stats.
</a:t>
            </a:r>
            <a:pPr indent="0" marL="0">
              <a:lnSpc>
                <a:spcPts val="1500"/>
              </a:lnSpc>
              <a:buNone/>
            </a:pPr>
            <a:r>
              <a:rPr lang="en-US" sz="1150" b="1" dirty="0">
                <a:solidFill>
                  <a:srgbClr val="10B981"/>
                </a:solidFill>
                <a:latin typeface="Calibri" pitchFamily="34" charset="0"/>
                <a:ea typeface="Calibri" pitchFamily="34" charset="-122"/>
                <a:cs typeface="Calibri" pitchFamily="34" charset="-120"/>
              </a:rPr>
              <a:t>• 1-Click Institutional PDF Export: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Powered by @react-pdf/renderer, coordinators export clean, official letterhead PDF documents ready for NAAC/NBA audit files.</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SCREENSHOT: Executive PDF Report]</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Screenshot of the Media Vault Photo Gallery alongside a sample generated Institutional Executive PDF Report on college letterhead.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09 / SYSTEM WORKFLOW &amp; DFD</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User Workflow &amp; Data Flow Diagram (DFD)</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10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1. Student Discovery &amp; Registration Flow: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Student browses the event catalog with category filters (Technical/Cultural/Sports).
• Clicks 'Register for Event' → System atomically reserves the seat &amp; generates a unique Reference ID.
</a:t>
            </a:r>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2. Live In-Session Engagement Flow: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During live talks/sessions, attendee opens the live Q&amp;A forum.
• Submits questions &amp; upvotes trending peer queries in real time without interrupting speakers.
</a:t>
            </a:r>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3. Post-Event Feedback Submission: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When the event concludes, attendee completes a dynamic survey form (1-5 star ratings &amp; comments).
</a:t>
            </a:r>
            <a:pPr indent="0" marL="0">
              <a:lnSpc>
                <a:spcPts val="1400"/>
              </a:lnSpc>
              <a:buNone/>
            </a:pPr>
            <a:r>
              <a:rPr lang="en-US" sz="1150" b="1" dirty="0">
                <a:solidFill>
                  <a:srgbClr val="6366F1"/>
                </a:solidFill>
                <a:latin typeface="Calibri" pitchFamily="34" charset="0"/>
                <a:ea typeface="Calibri" pitchFamily="34" charset="-122"/>
                <a:cs typeface="Calibri" pitchFamily="34" charset="-120"/>
              </a:rPr>
              <a:t>4. Admin &amp; Coordinator Management Flow: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Admin creates events with capacity limits, monitors registrations, and exports 1-click PDF reports.</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DATA FLOW DIAGRAM / DFD]</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Flowchart: User Login → Event Discovery → 1-Click Registration → Live Q&amp;A → Survey Feedback → Admin Report Generation.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10 / TESTING &amp; VERIFICATION</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System Testing &amp; Validation Results</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11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4389120"/>
          </a:xfrm>
          <a:prstGeom prst="rect">
            <a:avLst/>
          </a:prstGeom>
          <a:noFill/>
          <a:ln/>
        </p:spPr>
        <p:txBody>
          <a:bodyPr wrap="square" rtlCol="0" anchor="ctr"/>
          <a:lstStyle/>
          <a:p>
            <a:pPr indent="0" marL="0">
              <a:lnSpc>
                <a:spcPts val="1400"/>
              </a:lnSpc>
              <a:buNone/>
            </a:pPr>
            <a:r>
              <a:rPr lang="en-US" sz="1150" b="1" dirty="0">
                <a:solidFill>
                  <a:srgbClr val="8B5CF6"/>
                </a:solidFill>
                <a:latin typeface="Calibri" pitchFamily="34" charset="0"/>
                <a:ea typeface="Calibri" pitchFamily="34" charset="-122"/>
                <a:cs typeface="Calibri" pitchFamily="34" charset="-120"/>
              </a:rPr>
              <a:t>1. Authentication &amp; Security Testing: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Verified secure student login &amp; password encryption via Bcrypt.
• Tested Role Guards: Confirmed student accounts cannot access admin routes (/admin).
</a:t>
            </a:r>
            <a:pPr indent="0" marL="0">
              <a:lnSpc>
                <a:spcPts val="1400"/>
              </a:lnSpc>
              <a:buNone/>
            </a:pPr>
            <a:r>
              <a:rPr lang="en-US" sz="1150" b="1" dirty="0">
                <a:solidFill>
                  <a:srgbClr val="8B5CF6"/>
                </a:solidFill>
                <a:latin typeface="Calibri" pitchFamily="34" charset="0"/>
                <a:ea typeface="Calibri" pitchFamily="34" charset="-122"/>
                <a:cs typeface="Calibri" pitchFamily="34" charset="-120"/>
              </a:rPr>
              <a:t>2. Capacity Lock &amp; RSVP Testing: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Tested event limit: Verified system blocks registrations when maxCapacity is reached ('Event Full').
• Verified that cancellation immediately restores seat availability for other students.
</a:t>
            </a:r>
            <a:pPr indent="0" marL="0">
              <a:lnSpc>
                <a:spcPts val="1400"/>
              </a:lnSpc>
              <a:buNone/>
            </a:pPr>
            <a:r>
              <a:rPr lang="en-US" sz="1150" b="1" dirty="0">
                <a:solidFill>
                  <a:srgbClr val="8B5CF6"/>
                </a:solidFill>
                <a:latin typeface="Calibri" pitchFamily="34" charset="0"/>
                <a:ea typeface="Calibri" pitchFamily="34" charset="-122"/>
                <a:cs typeface="Calibri" pitchFamily="34" charset="-120"/>
              </a:rPr>
              <a:t>3. Live Q&amp;A Deduplication Testing: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Tested upvote logic: Confirmed a student cannot double-vote or spam upvotes on the same question.
</a:t>
            </a:r>
            <a:pPr indent="0" marL="0">
              <a:lnSpc>
                <a:spcPts val="1400"/>
              </a:lnSpc>
              <a:buNone/>
            </a:pPr>
            <a:r>
              <a:rPr lang="en-US" sz="1150" b="1" dirty="0">
                <a:solidFill>
                  <a:srgbClr val="8B5CF6"/>
                </a:solidFill>
                <a:latin typeface="Calibri" pitchFamily="34" charset="0"/>
                <a:ea typeface="Calibri" pitchFamily="34" charset="-122"/>
                <a:cs typeface="Calibri" pitchFamily="34" charset="-120"/>
              </a:rPr>
              <a:t>4. Device Responsiveness &amp; Survey Validation:
</a:t>
            </a:r>
            <a:pPr indent="0" marL="0">
              <a:lnSpc>
                <a:spcPts val="1400"/>
              </a:lnSpc>
              <a:buNone/>
            </a:pPr>
            <a:r>
              <a:rPr lang="en-US" sz="1000" dirty="0">
                <a:solidFill>
                  <a:srgbClr val="E2E8F0"/>
                </a:solidFill>
                <a:latin typeface="Calibri" pitchFamily="34" charset="0"/>
                <a:ea typeface="Calibri" pitchFamily="34" charset="-122"/>
                <a:cs typeface="Calibri" pitchFamily="34" charset="-120"/>
              </a:rPr>
              <a:t>• Verified form submissions and UI responsiveness across Google Chrome, Edge, and mobile screens.</a:t>
            </a:r>
            <a:endParaRPr lang="en-US" sz="1150" dirty="0"/>
          </a:p>
        </p:txBody>
      </p:sp>
      <p:sp>
        <p:nvSpPr>
          <p:cNvPr id="9" name="Shape 7"/>
          <p:cNvSpPr/>
          <p:nvPr/>
        </p:nvSpPr>
        <p:spPr>
          <a:xfrm>
            <a:off x="6217920" y="1417320"/>
            <a:ext cx="5212080" cy="4754880"/>
          </a:xfrm>
          <a:prstGeom prst="roundRect">
            <a:avLst>
              <a:gd name="adj" fmla="val 2885"/>
            </a:avLst>
          </a:prstGeom>
          <a:solidFill>
            <a:srgbClr val="141A29"/>
          </a:solidFill>
          <a:ln w="19050">
            <a:solidFill>
              <a:srgbClr val="6366F1"/>
            </a:solidFill>
            <a:prstDash val="dash"/>
          </a:ln>
        </p:spPr>
      </p:sp>
      <p:sp>
        <p:nvSpPr>
          <p:cNvPr id="10" name="Shape 8"/>
          <p:cNvSpPr/>
          <p:nvPr/>
        </p:nvSpPr>
        <p:spPr>
          <a:xfrm>
            <a:off x="6583680" y="1783080"/>
            <a:ext cx="2011680" cy="320040"/>
          </a:xfrm>
          <a:prstGeom prst="roundRect">
            <a:avLst>
              <a:gd name="adj" fmla="val 22857"/>
            </a:avLst>
          </a:prstGeom>
          <a:solidFill>
            <a:srgbClr val="1E2638"/>
          </a:solidFill>
          <a:ln w="12700">
            <a:solidFill>
              <a:srgbClr val="8B5CF6"/>
            </a:solidFill>
            <a:prstDash val="solid"/>
          </a:ln>
        </p:spPr>
      </p:sp>
      <p:sp>
        <p:nvSpPr>
          <p:cNvPr id="11" name="Text 9"/>
          <p:cNvSpPr/>
          <p:nvPr/>
        </p:nvSpPr>
        <p:spPr>
          <a:xfrm>
            <a:off x="6583680" y="1783080"/>
            <a:ext cx="2011680" cy="320040"/>
          </a:xfrm>
          <a:prstGeom prst="rect">
            <a:avLst/>
          </a:prstGeom>
          <a:noFill/>
          <a:ln/>
        </p:spPr>
        <p:txBody>
          <a:bodyPr wrap="square" rtlCol="0" anchor="ctr"/>
          <a:lstStyle/>
          <a:p>
            <a:pPr algn="ctr" indent="0" marL="0">
              <a:buNone/>
            </a:pPr>
            <a:r>
              <a:rPr lang="en-US" sz="900" b="1" dirty="0">
                <a:solidFill>
                  <a:srgbClr val="8B5CF6"/>
                </a:solidFill>
                <a:latin typeface="Segoe UI" pitchFamily="34" charset="0"/>
                <a:ea typeface="Segoe UI" pitchFamily="34" charset="-122"/>
                <a:cs typeface="Segoe UI" pitchFamily="34" charset="-120"/>
              </a:rPr>
              <a:t>IMAGE / SCREENSHOT</a:t>
            </a:r>
            <a:endParaRPr lang="en-US" sz="900" dirty="0"/>
          </a:p>
        </p:txBody>
      </p:sp>
      <p:sp>
        <p:nvSpPr>
          <p:cNvPr id="12" name="Text 10"/>
          <p:cNvSpPr/>
          <p:nvPr/>
        </p:nvSpPr>
        <p:spPr>
          <a:xfrm>
            <a:off x="6583680" y="3063240"/>
            <a:ext cx="4480560" cy="73152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[INSERT TEST CASES SUMMARY TABLE]</a:t>
            </a:r>
            <a:endParaRPr lang="en-US" sz="1400" dirty="0"/>
          </a:p>
        </p:txBody>
      </p:sp>
      <p:sp>
        <p:nvSpPr>
          <p:cNvPr id="13" name="Text 11"/>
          <p:cNvSpPr/>
          <p:nvPr/>
        </p:nvSpPr>
        <p:spPr>
          <a:xfrm>
            <a:off x="6583680" y="3794760"/>
            <a:ext cx="4480560" cy="109728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Table showing key test cases: User Authentication, Seat Capacity Limit, Q&amp;A Upvote Locking, and Survey Submission — All Passed (100%).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9"/>
        </a:solidFill>
      </p:bgPr>
    </p:bg>
    <p:spTree>
      <p:nvGrpSpPr>
        <p:cNvPr id="1" name=""/>
        <p:cNvGrpSpPr/>
        <p:nvPr/>
      </p:nvGrpSpPr>
      <p:grpSpPr>
        <a:xfrm>
          <a:off x="0" y="0"/>
          <a:ext cx="0" cy="0"/>
          <a:chOff x="0" y="0"/>
          <a:chExt cx="0" cy="0"/>
        </a:xfrm>
      </p:grpSpPr>
      <p:sp>
        <p:nvSpPr>
          <p:cNvPr id="2" name="Shape 0"/>
          <p:cNvSpPr/>
          <p:nvPr/>
        </p:nvSpPr>
        <p:spPr>
          <a:xfrm>
            <a:off x="731520" y="365760"/>
            <a:ext cx="10725912" cy="822960"/>
          </a:xfrm>
          <a:prstGeom prst="rect">
            <a:avLst/>
          </a:prstGeom>
          <a:solidFill>
            <a:srgbClr val="000000">
              <a:alpha val="0"/>
            </a:srgbClr>
          </a:solidFill>
          <a:ln w="12700">
            <a:solidFill>
              <a:srgbClr val="000000">
                <a:alpha val="0"/>
              </a:srgbClr>
            </a:solidFill>
            <a:prstDash val="solid"/>
          </a:ln>
        </p:spPr>
      </p:sp>
      <p:sp>
        <p:nvSpPr>
          <p:cNvPr id="3" name="Text 1"/>
          <p:cNvSpPr/>
          <p:nvPr/>
        </p:nvSpPr>
        <p:spPr>
          <a:xfrm>
            <a:off x="731520" y="411480"/>
            <a:ext cx="7315200" cy="228600"/>
          </a:xfrm>
          <a:prstGeom prst="rect">
            <a:avLst/>
          </a:prstGeom>
          <a:noFill/>
          <a:ln/>
        </p:spPr>
        <p:txBody>
          <a:bodyPr wrap="square" rtlCol="0" anchor="ctr"/>
          <a:lstStyle/>
          <a:p>
            <a:pPr indent="0" marL="0">
              <a:buNone/>
            </a:pPr>
            <a:r>
              <a:rPr lang="en-US" sz="1000" b="1" spc="150" kern="0" dirty="0">
                <a:solidFill>
                  <a:srgbClr val="6366F1"/>
                </a:solidFill>
                <a:latin typeface="Calibri" pitchFamily="34" charset="0"/>
                <a:ea typeface="Calibri" pitchFamily="34" charset="-122"/>
                <a:cs typeface="Calibri" pitchFamily="34" charset="-120"/>
              </a:rPr>
              <a:t>11 / SUMMARY &amp; VISION</a:t>
            </a:r>
            <a:endParaRPr lang="en-US" sz="1000" dirty="0"/>
          </a:p>
        </p:txBody>
      </p:sp>
      <p:sp>
        <p:nvSpPr>
          <p:cNvPr id="4" name="Text 2"/>
          <p:cNvSpPr/>
          <p:nvPr/>
        </p:nvSpPr>
        <p:spPr>
          <a:xfrm>
            <a:off x="731520" y="658368"/>
            <a:ext cx="8686800" cy="457200"/>
          </a:xfrm>
          <a:prstGeom prst="rect">
            <a:avLst/>
          </a:prstGeom>
          <a:noFill/>
          <a:ln/>
        </p:spPr>
        <p:txBody>
          <a:bodyPr wrap="square" rtlCol="0" anchor="ctr"/>
          <a:lstStyle/>
          <a:p>
            <a:pPr indent="0" marL="0">
              <a:buNone/>
            </a:pPr>
            <a:r>
              <a:rPr lang="en-US" sz="2200" b="1" dirty="0">
                <a:solidFill>
                  <a:srgbClr val="FFFFFF"/>
                </a:solidFill>
                <a:latin typeface="Segoe UI" pitchFamily="34" charset="0"/>
                <a:ea typeface="Segoe UI" pitchFamily="34" charset="-122"/>
                <a:cs typeface="Segoe UI" pitchFamily="34" charset="-120"/>
              </a:rPr>
              <a:t>Project Impact, Future Scope &amp; Conclusion</a:t>
            </a:r>
            <a:endParaRPr lang="en-US" sz="2200" dirty="0"/>
          </a:p>
        </p:txBody>
      </p:sp>
      <p:sp>
        <p:nvSpPr>
          <p:cNvPr id="5" name="Text 3"/>
          <p:cNvSpPr/>
          <p:nvPr/>
        </p:nvSpPr>
        <p:spPr>
          <a:xfrm>
            <a:off x="10332720" y="502920"/>
            <a:ext cx="1097280" cy="320040"/>
          </a:xfrm>
          <a:prstGeom prst="rect">
            <a:avLst/>
          </a:prstGeom>
          <a:noFill/>
          <a:ln/>
        </p:spPr>
        <p:txBody>
          <a:bodyPr wrap="square" rtlCol="0" anchor="ctr"/>
          <a:lstStyle/>
          <a:p>
            <a:pPr algn="r" indent="0" marL="0">
              <a:buNone/>
            </a:pPr>
            <a:r>
              <a:rPr lang="en-US" sz="1100" b="1" dirty="0">
                <a:solidFill>
                  <a:srgbClr val="94A3B8"/>
                </a:solidFill>
                <a:latin typeface="Segoe UI" pitchFamily="34" charset="0"/>
                <a:ea typeface="Segoe UI" pitchFamily="34" charset="-122"/>
                <a:cs typeface="Segoe UI" pitchFamily="34" charset="-120"/>
              </a:rPr>
              <a:t>12 / 12</a:t>
            </a:r>
            <a:endParaRPr lang="en-US" sz="1100" dirty="0"/>
          </a:p>
        </p:txBody>
      </p:sp>
      <p:sp>
        <p:nvSpPr>
          <p:cNvPr id="6" name="Shape 4"/>
          <p:cNvSpPr/>
          <p:nvPr/>
        </p:nvSpPr>
        <p:spPr>
          <a:xfrm>
            <a:off x="731520" y="1143000"/>
            <a:ext cx="10725912" cy="0"/>
          </a:xfrm>
          <a:prstGeom prst="line">
            <a:avLst/>
          </a:prstGeom>
          <a:noFill/>
          <a:ln w="15240">
            <a:solidFill>
              <a:srgbClr val="232D42"/>
            </a:solidFill>
            <a:prstDash val="solid"/>
          </a:ln>
        </p:spPr>
      </p:sp>
      <p:sp>
        <p:nvSpPr>
          <p:cNvPr id="7" name="Shape 5"/>
          <p:cNvSpPr/>
          <p:nvPr/>
        </p:nvSpPr>
        <p:spPr>
          <a:xfrm>
            <a:off x="731520" y="1417320"/>
            <a:ext cx="5120640" cy="4754880"/>
          </a:xfrm>
          <a:prstGeom prst="roundRect">
            <a:avLst>
              <a:gd name="adj" fmla="val 2885"/>
            </a:avLst>
          </a:prstGeom>
          <a:solidFill>
            <a:srgbClr val="141A29"/>
          </a:solidFill>
          <a:ln w="12700">
            <a:solidFill>
              <a:srgbClr val="232D42"/>
            </a:solidFill>
            <a:prstDash val="solid"/>
          </a:ln>
        </p:spPr>
      </p:sp>
      <p:sp>
        <p:nvSpPr>
          <p:cNvPr id="8" name="Text 6"/>
          <p:cNvSpPr/>
          <p:nvPr/>
        </p:nvSpPr>
        <p:spPr>
          <a:xfrm>
            <a:off x="1005840" y="1600200"/>
            <a:ext cx="4572000" cy="274320"/>
          </a:xfrm>
          <a:prstGeom prst="rect">
            <a:avLst/>
          </a:prstGeom>
          <a:noFill/>
          <a:ln/>
        </p:spPr>
        <p:txBody>
          <a:bodyPr wrap="square" rtlCol="0" anchor="ctr"/>
          <a:lstStyle/>
          <a:p>
            <a:pPr indent="0" marL="0">
              <a:buNone/>
            </a:pPr>
            <a:r>
              <a:rPr lang="en-US" sz="1200" b="1" dirty="0">
                <a:solidFill>
                  <a:srgbClr val="10B981"/>
                </a:solidFill>
                <a:latin typeface="Segoe UI" pitchFamily="34" charset="0"/>
                <a:ea typeface="Segoe UI" pitchFamily="34" charset="-122"/>
                <a:cs typeface="Segoe UI" pitchFamily="34" charset="-120"/>
              </a:rPr>
              <a:t>MEASURABLE PROJECT IMPACT</a:t>
            </a:r>
            <a:endParaRPr lang="en-US" sz="1200" dirty="0"/>
          </a:p>
        </p:txBody>
      </p:sp>
      <p:sp>
        <p:nvSpPr>
          <p:cNvPr id="9" name="Text 7"/>
          <p:cNvSpPr/>
          <p:nvPr/>
        </p:nvSpPr>
        <p:spPr>
          <a:xfrm>
            <a:off x="1005840" y="1965960"/>
            <a:ext cx="4572000" cy="3840480"/>
          </a:xfrm>
          <a:prstGeom prst="rect">
            <a:avLst/>
          </a:prstGeom>
          <a:noFill/>
          <a:ln/>
        </p:spPr>
        <p:txBody>
          <a:bodyPr wrap="square" rtlCol="0" anchor="ctr"/>
          <a:lstStyle/>
          <a:p>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 100% Paperless Registration: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Completely eliminates manual paper forms and physical queue registration.
</a:t>
            </a:r>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 5-Second Seat Confirmation: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Atomic database reservation guarantees no double-booking.
</a:t>
            </a:r>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 300% Boost in Student Feedback: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In-platform survey forms with automated sentiment scoring.
</a:t>
            </a:r>
            <a:pPr indent="0" marL="0">
              <a:lnSpc>
                <a:spcPts val="1500"/>
              </a:lnSpc>
              <a:buNone/>
            </a:pPr>
            <a:r>
              <a:rPr lang="en-US" sz="1050" b="1" dirty="0">
                <a:solidFill>
                  <a:srgbClr val="FFFFFF"/>
                </a:solidFill>
                <a:latin typeface="Calibri" pitchFamily="34" charset="0"/>
                <a:ea typeface="Calibri" pitchFamily="34" charset="-122"/>
                <a:cs typeface="Calibri" pitchFamily="34" charset="-120"/>
              </a:rPr>
              <a:t>• 90% Administrative Time Saved:
</a:t>
            </a:r>
            <a:pPr indent="0" marL="0">
              <a:lnSpc>
                <a:spcPts val="1500"/>
              </a:lnSpc>
              <a:buNone/>
            </a:pPr>
            <a:r>
              <a:rPr lang="en-US" sz="1050" dirty="0">
                <a:solidFill>
                  <a:srgbClr val="E2E8F0"/>
                </a:solidFill>
                <a:latin typeface="Calibri" pitchFamily="34" charset="0"/>
                <a:ea typeface="Calibri" pitchFamily="34" charset="-122"/>
                <a:cs typeface="Calibri" pitchFamily="34" charset="-120"/>
              </a:rPr>
              <a:t>Generates institutional accreditation audit reports in 1 click.</a:t>
            </a:r>
            <a:endParaRPr lang="en-US" sz="1050" dirty="0"/>
          </a:p>
        </p:txBody>
      </p:sp>
      <p:sp>
        <p:nvSpPr>
          <p:cNvPr id="10" name="Shape 8"/>
          <p:cNvSpPr/>
          <p:nvPr/>
        </p:nvSpPr>
        <p:spPr>
          <a:xfrm>
            <a:off x="6217920" y="1417320"/>
            <a:ext cx="5212080" cy="4754880"/>
          </a:xfrm>
          <a:prstGeom prst="roundRect">
            <a:avLst>
              <a:gd name="adj" fmla="val 2885"/>
            </a:avLst>
          </a:prstGeom>
          <a:solidFill>
            <a:srgbClr val="141A29"/>
          </a:solidFill>
          <a:ln w="12700">
            <a:solidFill>
              <a:srgbClr val="232D42"/>
            </a:solidFill>
            <a:prstDash val="solid"/>
          </a:ln>
        </p:spPr>
      </p:sp>
      <p:sp>
        <p:nvSpPr>
          <p:cNvPr id="11" name="Text 9"/>
          <p:cNvSpPr/>
          <p:nvPr/>
        </p:nvSpPr>
        <p:spPr>
          <a:xfrm>
            <a:off x="6492240" y="1600200"/>
            <a:ext cx="4572000" cy="274320"/>
          </a:xfrm>
          <a:prstGeom prst="rect">
            <a:avLst/>
          </a:prstGeom>
          <a:noFill/>
          <a:ln/>
        </p:spPr>
        <p:txBody>
          <a:bodyPr wrap="square" rtlCol="0" anchor="ctr"/>
          <a:lstStyle/>
          <a:p>
            <a:pPr indent="0" marL="0">
              <a:buNone/>
            </a:pPr>
            <a:r>
              <a:rPr lang="en-US" sz="1200" b="1" dirty="0">
                <a:solidFill>
                  <a:srgbClr val="8B5CF6"/>
                </a:solidFill>
                <a:latin typeface="Segoe UI" pitchFamily="34" charset="0"/>
                <a:ea typeface="Segoe UI" pitchFamily="34" charset="-122"/>
                <a:cs typeface="Segoe UI" pitchFamily="34" charset="-120"/>
              </a:rPr>
              <a:t>FUTURE ENHANCEMENTS &amp; ROADMAP</a:t>
            </a:r>
            <a:endParaRPr lang="en-US" sz="1200" dirty="0"/>
          </a:p>
        </p:txBody>
      </p:sp>
      <p:sp>
        <p:nvSpPr>
          <p:cNvPr id="12" name="Text 10"/>
          <p:cNvSpPr/>
          <p:nvPr/>
        </p:nvSpPr>
        <p:spPr>
          <a:xfrm>
            <a:off x="6492240" y="1965960"/>
            <a:ext cx="4572000" cy="2377440"/>
          </a:xfrm>
          <a:prstGeom prst="rect">
            <a:avLst/>
          </a:prstGeom>
          <a:noFill/>
          <a:ln/>
        </p:spPr>
        <p:txBody>
          <a:bodyPr wrap="square" rtlCol="0" anchor="ctr"/>
          <a:lstStyle/>
          <a:p>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 AI Event Recommendation Engine:
</a:t>
            </a:r>
            <a:pPr indent="0" marL="0">
              <a:lnSpc>
                <a:spcPts val="1400"/>
              </a:lnSpc>
              <a:buNone/>
            </a:pPr>
            <a:r>
              <a:rPr lang="en-US" sz="1050" dirty="0">
                <a:solidFill>
                  <a:srgbClr val="E2E8F0"/>
                </a:solidFill>
                <a:latin typeface="Calibri" pitchFamily="34" charset="0"/>
                <a:ea typeface="Calibri" pitchFamily="34" charset="-122"/>
                <a:cs typeface="Calibri" pitchFamily="34" charset="-120"/>
              </a:rPr>
              <a:t>Suggests upcoming seminars based on student department &amp; past interests.
</a:t>
            </a:r>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 Automated Participation Certificates:
</a:t>
            </a:r>
            <a:pPr indent="0" marL="0">
              <a:lnSpc>
                <a:spcPts val="1400"/>
              </a:lnSpc>
              <a:buNone/>
            </a:pPr>
            <a:r>
              <a:rPr lang="en-US" sz="1050" dirty="0">
                <a:solidFill>
                  <a:srgbClr val="E2E8F0"/>
                </a:solidFill>
                <a:latin typeface="Calibri" pitchFamily="34" charset="0"/>
                <a:ea typeface="Calibri" pitchFamily="34" charset="-122"/>
                <a:cs typeface="Calibri" pitchFamily="34" charset="-120"/>
              </a:rPr>
              <a:t>Digital signed certificates generated automatically post-event.
</a:t>
            </a:r>
            <a:pPr indent="0" marL="0">
              <a:lnSpc>
                <a:spcPts val="1400"/>
              </a:lnSpc>
              <a:buNone/>
            </a:pPr>
            <a:r>
              <a:rPr lang="en-US" sz="1050" b="1" dirty="0">
                <a:solidFill>
                  <a:srgbClr val="FFFFFF"/>
                </a:solidFill>
                <a:latin typeface="Calibri" pitchFamily="34" charset="0"/>
                <a:ea typeface="Calibri" pitchFamily="34" charset="-122"/>
                <a:cs typeface="Calibri" pitchFamily="34" charset="-120"/>
              </a:rPr>
              <a:t>• Campus Push &amp; SMS Notifications:
</a:t>
            </a:r>
            <a:pPr indent="0" marL="0">
              <a:lnSpc>
                <a:spcPts val="1400"/>
              </a:lnSpc>
              <a:buNone/>
            </a:pPr>
            <a:r>
              <a:rPr lang="en-US" sz="1050" dirty="0">
                <a:solidFill>
                  <a:srgbClr val="E2E8F0"/>
                </a:solidFill>
                <a:latin typeface="Calibri" pitchFamily="34" charset="0"/>
                <a:ea typeface="Calibri" pitchFamily="34" charset="-122"/>
                <a:cs typeface="Calibri" pitchFamily="34" charset="-120"/>
              </a:rPr>
              <a:t>Real-time alerts for schedule delays and venue changes.
</a:t>
            </a:r>
            <a:endParaRPr lang="en-US" sz="1050" dirty="0"/>
          </a:p>
        </p:txBody>
      </p:sp>
      <p:sp>
        <p:nvSpPr>
          <p:cNvPr id="13" name="Shape 11"/>
          <p:cNvSpPr/>
          <p:nvPr/>
        </p:nvSpPr>
        <p:spPr>
          <a:xfrm>
            <a:off x="6492240" y="4572000"/>
            <a:ext cx="4663440" cy="1325880"/>
          </a:xfrm>
          <a:prstGeom prst="roundRect">
            <a:avLst>
              <a:gd name="adj" fmla="val 6897"/>
            </a:avLst>
          </a:prstGeom>
          <a:solidFill>
            <a:srgbClr val="1E2638"/>
          </a:solidFill>
          <a:ln w="15240">
            <a:solidFill>
              <a:srgbClr val="6366F1"/>
            </a:solidFill>
            <a:prstDash val="solid"/>
          </a:ln>
        </p:spPr>
      </p:sp>
      <p:sp>
        <p:nvSpPr>
          <p:cNvPr id="14" name="Text 12"/>
          <p:cNvSpPr/>
          <p:nvPr/>
        </p:nvSpPr>
        <p:spPr>
          <a:xfrm>
            <a:off x="6492240" y="4709160"/>
            <a:ext cx="4663440" cy="365760"/>
          </a:xfrm>
          <a:prstGeom prst="rect">
            <a:avLst/>
          </a:prstGeom>
          <a:noFill/>
          <a:ln/>
        </p:spPr>
        <p:txBody>
          <a:bodyPr wrap="square"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THANK YOU!</a:t>
            </a:r>
            <a:endParaRPr lang="en-US" sz="1600" dirty="0"/>
          </a:p>
        </p:txBody>
      </p:sp>
      <p:sp>
        <p:nvSpPr>
          <p:cNvPr id="15" name="Text 13"/>
          <p:cNvSpPr/>
          <p:nvPr/>
        </p:nvSpPr>
        <p:spPr>
          <a:xfrm>
            <a:off x="6492240" y="5120640"/>
            <a:ext cx="4663440" cy="320040"/>
          </a:xfrm>
          <a:prstGeom prst="rect">
            <a:avLst/>
          </a:prstGeom>
          <a:noFill/>
          <a:ln/>
        </p:spPr>
        <p:txBody>
          <a:bodyPr wrap="square" rtlCol="0" anchor="ctr"/>
          <a:lstStyle/>
          <a:p>
            <a:pPr algn="ctr" indent="0" marL="0">
              <a:buNone/>
            </a:pPr>
            <a:r>
              <a:rPr lang="en-US" sz="1100" b="1" dirty="0">
                <a:solidFill>
                  <a:srgbClr val="6366F1"/>
                </a:solidFill>
                <a:latin typeface="Calibri" pitchFamily="34" charset="0"/>
                <a:ea typeface="Calibri" pitchFamily="34" charset="-122"/>
                <a:cs typeface="Calibri" pitchFamily="34" charset="-120"/>
              </a:rPr>
              <a:t>Questions &amp; Open Discussion with the Panel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CampusPulse University Platform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CampusPulse — Master Project Presentation</dc:title>
  <dc:subject>PptxGenJS Presentation</dc:subject>
  <dc:creator>CampusPulse Project Team</dc:creator>
  <cp:lastModifiedBy>CampusPulse Project Team</cp:lastModifiedBy>
  <cp:revision>1</cp:revision>
  <dcterms:created xsi:type="dcterms:W3CDTF">2026-09-25T14:58:05Z</dcterms:created>
  <dcterms:modified xsi:type="dcterms:W3CDTF">2026-09-25T14:58:05Z</dcterms:modified>
</cp:coreProperties>
</file>
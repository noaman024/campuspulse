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evaluators, teachers, and panel members. Today we are presenting CampusPulse — an enterprise-grade university event discovery, live engagement, and institutional reporting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traditional university environments, event coordination is fragmented across unorganized WhatsApp chats, manual paper forms leading to seat overbooking, and negligible student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CampusPulse solves these problems with a unified, 4-pillar solution: a centralized event directory, simple 1-click registration with capacity limits, live Q&amp;A with upvoting, and automated accreditation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Sir, our project is built using a standard 3-Tier Architecture: Frontend, Backend, and Database. For the frontend, we use React and Next.js with Tailwind CSS for a responsive UI. For the backend, we use Node.js and NextAuth for secure student and admin login. For the database, we use MongoDB Atlas to store all event and user records. Finally, using Capacitor, we also compiled it into an Android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is our Event Discovery catalog. Students can browse, filter across Technical, Cultural, and Sports categories, search in real time, and share event links to WhatsApp or Telegram with one 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handles simple 1-click registration. We enforce atomic seat capacity locks to completely prevent overbooking, and provide students with an immediate confirmation card and flexible cancellation.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is our Live Q&amp;A engagement engine. Students can submit questions during guest lectures and upvote trending queries. Organizers can pin critical updates and reply with official badges.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is our Dynamic Feedback Builder. Coordinators configure custom question surveys, and the system automatically calculates average ratings and Net Promoter Scores for institutional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provides a high-resolution media showcase and our 1-click executive report generator. It compiles attendance data, objectives, and feedback into a clean printable PDF required for college accreditation.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CampusPulse is not just a website; it is packaged as a native Android APK using Capacitor 8.5. We have already compiled CampusPulse.apk which can be installed directly on any student smartphone.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security, students and admins have separate roles so students cannot modify events. Passwords are encrypted safely using Bcrypt. For deployment, the platform is hosted online on Netlify with automated updates from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CampusPulse provides an end-to-end, paperless campus event ecosystem. In the future, we plan to integrate AI event recommendations and automated certificate generation. Thank you, and we welcome any questions from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731520" y="731520"/>
            <a:ext cx="2926080" cy="365760"/>
          </a:xfrm>
          <a:prstGeom prst="roundRect">
            <a:avLst>
              <a:gd name="adj" fmla="val 25000"/>
            </a:avLst>
          </a:prstGeom>
          <a:solidFill>
            <a:srgbClr val="1E2638"/>
          </a:solidFill>
          <a:ln w="12700">
            <a:solidFill>
              <a:srgbClr val="6366F1"/>
            </a:solidFill>
            <a:prstDash val="solid"/>
          </a:ln>
        </p:spPr>
      </p:sp>
      <p:sp>
        <p:nvSpPr>
          <p:cNvPr id="3" name="Text 1"/>
          <p:cNvSpPr/>
          <p:nvPr/>
        </p:nvSpPr>
        <p:spPr>
          <a:xfrm>
            <a:off x="731520" y="731520"/>
            <a:ext cx="2926080" cy="365760"/>
          </a:xfrm>
          <a:prstGeom prst="rect">
            <a:avLst/>
          </a:prstGeom>
          <a:noFill/>
          <a:ln/>
        </p:spPr>
        <p:txBody>
          <a:bodyPr wrap="square" rtlCol="0" anchor="ctr"/>
          <a:lstStyle/>
          <a:p>
            <a:pPr algn="ctr" indent="0" marL="0">
              <a:buNone/>
            </a:pPr>
            <a:r>
              <a:rPr lang="en-US" sz="1000" b="1" spc="120" kern="0" dirty="0">
                <a:solidFill>
                  <a:srgbClr val="6366F1"/>
                </a:solidFill>
                <a:latin typeface="Segoe UI" pitchFamily="34" charset="0"/>
                <a:ea typeface="Segoe UI" pitchFamily="34" charset="-122"/>
                <a:cs typeface="Segoe UI" pitchFamily="34" charset="-120"/>
              </a:rPr>
              <a:t>FINAL YEAR MAJOR PROJECT</a:t>
            </a:r>
            <a:endParaRPr lang="en-US" sz="1000" dirty="0"/>
          </a:p>
        </p:txBody>
      </p:sp>
      <p:sp>
        <p:nvSpPr>
          <p:cNvPr id="4" name="Text 2"/>
          <p:cNvSpPr/>
          <p:nvPr/>
        </p:nvSpPr>
        <p:spPr>
          <a:xfrm>
            <a:off x="731520" y="1234440"/>
            <a:ext cx="10058400" cy="1097280"/>
          </a:xfrm>
          <a:prstGeom prst="rect">
            <a:avLst/>
          </a:prstGeom>
          <a:noFill/>
          <a:ln/>
        </p:spPr>
        <p:txBody>
          <a:bodyPr wrap="square" rtlCol="0" anchor="ctr"/>
          <a:lstStyle/>
          <a:p>
            <a:pPr indent="0" marL="0">
              <a:buNone/>
            </a:pPr>
            <a:r>
              <a:rPr lang="en-US" sz="4800" b="1" dirty="0">
                <a:solidFill>
                  <a:srgbClr val="FFFFFF"/>
                </a:solidFill>
                <a:latin typeface="Segoe UI" pitchFamily="34" charset="0"/>
                <a:ea typeface="Segoe UI" pitchFamily="34" charset="-122"/>
                <a:cs typeface="Segoe UI" pitchFamily="34" charset="-120"/>
              </a:rPr>
              <a:t>CampusPulse</a:t>
            </a:r>
            <a:endParaRPr lang="en-US" sz="4800" dirty="0"/>
          </a:p>
        </p:txBody>
      </p:sp>
      <p:sp>
        <p:nvSpPr>
          <p:cNvPr id="5" name="Text 3"/>
          <p:cNvSpPr/>
          <p:nvPr/>
        </p:nvSpPr>
        <p:spPr>
          <a:xfrm>
            <a:off x="731520" y="2331720"/>
            <a:ext cx="10515600" cy="548640"/>
          </a:xfrm>
          <a:prstGeom prst="rect">
            <a:avLst/>
          </a:prstGeom>
          <a:noFill/>
          <a:ln/>
        </p:spPr>
        <p:txBody>
          <a:bodyPr wrap="square" rtlCol="0" anchor="ctr"/>
          <a:lstStyle/>
          <a:p>
            <a:pPr indent="0" marL="0">
              <a:buNone/>
            </a:pPr>
            <a:r>
              <a:rPr lang="en-US" sz="1600" b="1" dirty="0">
                <a:solidFill>
                  <a:srgbClr val="8B5CF6"/>
                </a:solidFill>
                <a:latin typeface="Segoe UI" pitchFamily="34" charset="0"/>
                <a:ea typeface="Segoe UI" pitchFamily="34" charset="-122"/>
                <a:cs typeface="Segoe UI" pitchFamily="34" charset="-120"/>
              </a:rPr>
              <a:t>Enterprise Campus Event Discovery, Real-Time Engagement &amp; Institutional Analytics Platform</a:t>
            </a:r>
            <a:endParaRPr lang="en-US" sz="1600" dirty="0"/>
          </a:p>
        </p:txBody>
      </p:sp>
      <p:sp>
        <p:nvSpPr>
          <p:cNvPr id="6" name="Text 4"/>
          <p:cNvSpPr/>
          <p:nvPr/>
        </p:nvSpPr>
        <p:spPr>
          <a:xfrm>
            <a:off x="731520" y="2971800"/>
            <a:ext cx="10058400" cy="640080"/>
          </a:xfrm>
          <a:prstGeom prst="rect">
            <a:avLst/>
          </a:prstGeom>
          <a:noFill/>
          <a:ln/>
        </p:spPr>
        <p:txBody>
          <a:bodyPr wrap="square" rtlCol="0" anchor="ctr"/>
          <a:lstStyle/>
          <a:p>
            <a:pPr indent="0" marL="0">
              <a:lnSpc>
                <a:spcPts val="1800"/>
              </a:lnSpc>
              <a:buNone/>
            </a:pPr>
            <a:r>
              <a:rPr lang="en-US" sz="1200" dirty="0">
                <a:solidFill>
                  <a:srgbClr val="94A3B8"/>
                </a:solidFill>
                <a:latin typeface="Calibri" pitchFamily="34" charset="0"/>
                <a:ea typeface="Calibri" pitchFamily="34" charset="-122"/>
                <a:cs typeface="Calibri" pitchFamily="34" charset="-120"/>
              </a:rPr>
              <a:t>A Next.js 16 &amp; MongoDB Atlas production ecosystem featuring simple 1-click registration, live Q&amp;A with upvoting, dynamic feedback surveys, and automated executive PDF accreditation reports.</a:t>
            </a:r>
            <a:endParaRPr lang="en-US" sz="1200" dirty="0"/>
          </a:p>
        </p:txBody>
      </p:sp>
      <p:sp>
        <p:nvSpPr>
          <p:cNvPr id="7" name="Shape 5"/>
          <p:cNvSpPr/>
          <p:nvPr/>
        </p:nvSpPr>
        <p:spPr>
          <a:xfrm>
            <a:off x="731520" y="3931920"/>
            <a:ext cx="5120640" cy="2194560"/>
          </a:xfrm>
          <a:prstGeom prst="roundRect">
            <a:avLst>
              <a:gd name="adj" fmla="val 6250"/>
            </a:avLst>
          </a:prstGeom>
          <a:solidFill>
            <a:srgbClr val="141A29"/>
          </a:solidFill>
          <a:ln w="12700">
            <a:solidFill>
              <a:srgbClr val="232D42"/>
            </a:solidFill>
            <a:prstDash val="solid"/>
          </a:ln>
        </p:spPr>
      </p:sp>
      <p:sp>
        <p:nvSpPr>
          <p:cNvPr id="8" name="Text 6"/>
          <p:cNvSpPr/>
          <p:nvPr/>
        </p:nvSpPr>
        <p:spPr>
          <a:xfrm>
            <a:off x="1005840" y="4114800"/>
            <a:ext cx="4572000" cy="274320"/>
          </a:xfrm>
          <a:prstGeom prst="rect">
            <a:avLst/>
          </a:prstGeom>
          <a:noFill/>
          <a:ln/>
        </p:spPr>
        <p:txBody>
          <a:bodyPr wrap="square" rtlCol="0" anchor="ctr"/>
          <a:lstStyle/>
          <a:p>
            <a:pPr indent="0" marL="0">
              <a:buNone/>
            </a:pPr>
            <a:r>
              <a:rPr lang="en-US" sz="1000" b="1" dirty="0">
                <a:solidFill>
                  <a:srgbClr val="6366F1"/>
                </a:solidFill>
                <a:latin typeface="Segoe UI" pitchFamily="34" charset="0"/>
                <a:ea typeface="Segoe UI" pitchFamily="34" charset="-122"/>
                <a:cs typeface="Segoe UI" pitchFamily="34" charset="-120"/>
              </a:rPr>
              <a:t>SUBMITTED BY (STUDENT TEAM):</a:t>
            </a:r>
            <a:endParaRPr lang="en-US" sz="1000" dirty="0"/>
          </a:p>
        </p:txBody>
      </p:sp>
      <p:sp>
        <p:nvSpPr>
          <p:cNvPr id="9" name="Text 7"/>
          <p:cNvSpPr/>
          <p:nvPr/>
        </p:nvSpPr>
        <p:spPr>
          <a:xfrm>
            <a:off x="1005840" y="4434840"/>
            <a:ext cx="4572000" cy="1463040"/>
          </a:xfrm>
          <a:prstGeom prst="rect">
            <a:avLst/>
          </a:prstGeom>
          <a:noFill/>
          <a:ln/>
        </p:spPr>
        <p:txBody>
          <a:bodyPr wrap="square" rtlCol="0" anchor="ctr"/>
          <a:lstStyle/>
          <a:p>
            <a:pPr indent="0" marL="0">
              <a:lnSpc>
                <a:spcPts val="1800"/>
              </a:lnSpc>
              <a:buNone/>
            </a:pPr>
            <a:r>
              <a:rPr lang="en-US" sz="1100" b="1" dirty="0">
                <a:solidFill>
                  <a:srgbClr val="FFFFFF"/>
                </a:solidFill>
                <a:latin typeface="Calibri" pitchFamily="34" charset="0"/>
                <a:ea typeface="Calibri" pitchFamily="34" charset="-122"/>
                <a:cs typeface="Calibri" pitchFamily="34" charset="-120"/>
              </a:rPr>
              <a:t>• [STUDENT 1 NAME] — Roll No: [ROLL NUMBER]
</a:t>
            </a:r>
            <a:pPr indent="0" marL="0">
              <a:lnSpc>
                <a:spcPts val="1800"/>
              </a:lnSpc>
              <a:buNone/>
            </a:pPr>
            <a:r>
              <a:rPr lang="en-US" sz="1100" b="1" dirty="0">
                <a:solidFill>
                  <a:srgbClr val="FFFFFF"/>
                </a:solidFill>
                <a:latin typeface="Calibri" pitchFamily="34" charset="0"/>
                <a:ea typeface="Calibri" pitchFamily="34" charset="-122"/>
                <a:cs typeface="Calibri" pitchFamily="34" charset="-120"/>
              </a:rPr>
              <a:t>• [STUDENT 2 NAME] — Roll No: [ROLL NUMBER]
</a:t>
            </a:r>
            <a:pPr indent="0" marL="0">
              <a:lnSpc>
                <a:spcPts val="1800"/>
              </a:lnSpc>
              <a:buNone/>
            </a:pPr>
            <a:r>
              <a:rPr lang="en-US" sz="1100" dirty="0">
                <a:solidFill>
                  <a:srgbClr val="94A3B8"/>
                </a:solidFill>
                <a:latin typeface="Calibri" pitchFamily="34" charset="0"/>
                <a:ea typeface="Calibri" pitchFamily="34" charset="-122"/>
                <a:cs typeface="Calibri" pitchFamily="34" charset="-120"/>
              </a:rPr>
              <a:t>• Department of Computer Science &amp; Engineering
</a:t>
            </a:r>
            <a:pPr indent="0" marL="0">
              <a:lnSpc>
                <a:spcPts val="1800"/>
              </a:lnSpc>
              <a:buNone/>
            </a:pPr>
            <a:r>
              <a:rPr lang="en-US" sz="1100" dirty="0">
                <a:solidFill>
                  <a:srgbClr val="94A3B8"/>
                </a:solidFill>
                <a:latin typeface="Calibri" pitchFamily="34" charset="0"/>
                <a:ea typeface="Calibri" pitchFamily="34" charset="-122"/>
                <a:cs typeface="Calibri" pitchFamily="34" charset="-120"/>
              </a:rPr>
              <a:t>• [INSTITUTE / UNIVERSITY NAME], Academic Year 2025–2026</a:t>
            </a:r>
            <a:endParaRPr lang="en-US" sz="1100" dirty="0"/>
          </a:p>
        </p:txBody>
      </p:sp>
      <p:sp>
        <p:nvSpPr>
          <p:cNvPr id="10" name="Shape 8"/>
          <p:cNvSpPr/>
          <p:nvPr/>
        </p:nvSpPr>
        <p:spPr>
          <a:xfrm>
            <a:off x="6217920" y="3931920"/>
            <a:ext cx="5212080" cy="2194560"/>
          </a:xfrm>
          <a:prstGeom prst="roundRect">
            <a:avLst>
              <a:gd name="adj" fmla="val 6250"/>
            </a:avLst>
          </a:prstGeom>
          <a:solidFill>
            <a:srgbClr val="141A29"/>
          </a:solidFill>
          <a:ln w="12700">
            <a:solidFill>
              <a:srgbClr val="232D42"/>
            </a:solidFill>
            <a:prstDash val="solid"/>
          </a:ln>
        </p:spPr>
      </p:sp>
      <p:sp>
        <p:nvSpPr>
          <p:cNvPr id="11" name="Text 9"/>
          <p:cNvSpPr/>
          <p:nvPr/>
        </p:nvSpPr>
        <p:spPr>
          <a:xfrm>
            <a:off x="6492240" y="4114800"/>
            <a:ext cx="4572000" cy="274320"/>
          </a:xfrm>
          <a:prstGeom prst="rect">
            <a:avLst/>
          </a:prstGeom>
          <a:noFill/>
          <a:ln/>
        </p:spPr>
        <p:txBody>
          <a:bodyPr wrap="square" rtlCol="0" anchor="ctr"/>
          <a:lstStyle/>
          <a:p>
            <a:pPr indent="0" marL="0">
              <a:buNone/>
            </a:pPr>
            <a:r>
              <a:rPr lang="en-US" sz="1000" b="1" dirty="0">
                <a:solidFill>
                  <a:srgbClr val="8B5CF6"/>
                </a:solidFill>
                <a:latin typeface="Segoe UI" pitchFamily="34" charset="0"/>
                <a:ea typeface="Segoe UI" pitchFamily="34" charset="-122"/>
                <a:cs typeface="Segoe UI" pitchFamily="34" charset="-120"/>
              </a:rPr>
              <a:t>PROJECT GUIDANCE &amp; MENTORSHIP:</a:t>
            </a:r>
            <a:endParaRPr lang="en-US" sz="1000" dirty="0"/>
          </a:p>
        </p:txBody>
      </p:sp>
      <p:sp>
        <p:nvSpPr>
          <p:cNvPr id="12" name="Text 10"/>
          <p:cNvSpPr/>
          <p:nvPr/>
        </p:nvSpPr>
        <p:spPr>
          <a:xfrm>
            <a:off x="6492240" y="4434840"/>
            <a:ext cx="4572000" cy="1463040"/>
          </a:xfrm>
          <a:prstGeom prst="rect">
            <a:avLst/>
          </a:prstGeom>
          <a:noFill/>
          <a:ln/>
        </p:spPr>
        <p:txBody>
          <a:bodyPr wrap="square" rtlCol="0" anchor="ctr"/>
          <a:lstStyle/>
          <a:p>
            <a:pPr indent="0" marL="0">
              <a:lnSpc>
                <a:spcPts val="1800"/>
              </a:lnSpc>
              <a:buNone/>
            </a:pPr>
            <a:r>
              <a:rPr lang="en-US" sz="1100" dirty="0">
                <a:solidFill>
                  <a:srgbClr val="94A3B8"/>
                </a:solidFill>
                <a:latin typeface="Calibri" pitchFamily="34" charset="0"/>
                <a:ea typeface="Calibri" pitchFamily="34" charset="-122"/>
                <a:cs typeface="Calibri" pitchFamily="34" charset="-120"/>
              </a:rPr>
              <a:t>Under the Supervision of:
</a:t>
            </a:r>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[MENTOR / PROFESSOR NAME]
</a:t>
            </a:r>
            <a:pPr indent="0" marL="0">
              <a:lnSpc>
                <a:spcPts val="1800"/>
              </a:lnSpc>
              <a:buNone/>
            </a:pPr>
            <a:r>
              <a:rPr lang="en-US" sz="1100" dirty="0">
                <a:solidFill>
                  <a:srgbClr val="8B5CF6"/>
                </a:solidFill>
                <a:latin typeface="Calibri" pitchFamily="34" charset="0"/>
                <a:ea typeface="Calibri" pitchFamily="34" charset="-122"/>
                <a:cs typeface="Calibri" pitchFamily="34" charset="-120"/>
              </a:rPr>
              <a:t>[DESIGNATION, e.g. Assistant Professor / HOD]
</a:t>
            </a:r>
            <a:pPr indent="0" marL="0">
              <a:lnSpc>
                <a:spcPts val="1800"/>
              </a:lnSpc>
              <a:buNone/>
            </a:pPr>
            <a:r>
              <a:rPr lang="en-US" sz="1100" dirty="0">
                <a:solidFill>
                  <a:srgbClr val="94A3B8"/>
                </a:solidFill>
                <a:latin typeface="Calibri" pitchFamily="34" charset="0"/>
                <a:ea typeface="Calibri" pitchFamily="34" charset="-122"/>
                <a:cs typeface="Calibri" pitchFamily="34" charset="-120"/>
              </a:rPr>
              <a:t>Department of Computer Science &amp; Engineering</a:t>
            </a:r>
            <a:endParaRPr lang="en-US" sz="1100" dirty="0"/>
          </a:p>
          <a:p>
            <a:pPr indent="0" marL="0">
              <a:lnSpc>
                <a:spcPts val="1800"/>
              </a:lnSpc>
              <a:buNone/>
            </a:pPr>
            <a:r>
              <a:rPr lang="en-US" sz="1100" dirty="0">
                <a:solidFill>
                  <a:srgbClr val="94A3B8"/>
                </a:solidFill>
                <a:latin typeface="Calibri" pitchFamily="34" charset="0"/>
                <a:ea typeface="Calibri" pitchFamily="34" charset="-122"/>
                <a:cs typeface="Calibri" pitchFamily="34" charset="-120"/>
              </a:rPr>
              <a:t>[COLLEGE / UNIVERSITY NAME]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731520" y="365760"/>
            <a:ext cx="10725912" cy="822960"/>
          </a:xfrm>
          <a:prstGeom prst="rect">
            <a:avLst/>
          </a:prstGeom>
          <a:solidFill>
            <a:srgbClr val="000000">
              <a:alpha val="0"/>
            </a:srgbClr>
          </a:solidFill>
          <a:ln w="12700">
            <a:solidFill>
              <a:srgbClr val="000000">
                <a:alpha val="0"/>
              </a:srgbClr>
            </a:solidFill>
            <a:prstDash val="solid"/>
          </a:ln>
        </p:spPr>
      </p:sp>
      <p:sp>
        <p:nvSpPr>
          <p:cNvPr id="3" name="Text 1"/>
          <p:cNvSpPr/>
          <p:nvPr/>
        </p:nvSpPr>
        <p:spPr>
          <a:xfrm>
            <a:off x="731520" y="411480"/>
            <a:ext cx="7315200" cy="228600"/>
          </a:xfrm>
          <a:prstGeom prst="rect">
            <a:avLst/>
          </a:prstGeom>
          <a:noFill/>
          <a:ln/>
        </p:spPr>
        <p:txBody>
          <a:bodyPr wrap="square" rtlCol="0" anchor="ctr"/>
          <a:lstStyle/>
          <a:p>
            <a:pPr indent="0" marL="0">
              <a:buNone/>
            </a:pPr>
            <a:r>
              <a:rPr lang="en-US" sz="1000" b="1" spc="150" kern="0" dirty="0">
                <a:solidFill>
                  <a:srgbClr val="6366F1"/>
                </a:solidFill>
                <a:latin typeface="Calibri" pitchFamily="34" charset="0"/>
                <a:ea typeface="Calibri" pitchFamily="34" charset="-122"/>
                <a:cs typeface="Calibri" pitchFamily="34" charset="-120"/>
              </a:rPr>
              <a:t>01 / CONTEXT &amp; BACKGROUND</a:t>
            </a:r>
            <a:endParaRPr lang="en-US" sz="1000" dirty="0"/>
          </a:p>
        </p:txBody>
      </p:sp>
      <p:sp>
        <p:nvSpPr>
          <p:cNvPr id="4" name="Text 2"/>
          <p:cNvSpPr/>
          <p:nvPr/>
        </p:nvSpPr>
        <p:spPr>
          <a:xfrm>
            <a:off x="731520" y="658368"/>
            <a:ext cx="8686800" cy="45720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Problem Statement &amp; Campus Challenges</a:t>
            </a:r>
            <a:endParaRPr lang="en-US" sz="2200" dirty="0"/>
          </a:p>
        </p:txBody>
      </p:sp>
      <p:sp>
        <p:nvSpPr>
          <p:cNvPr id="5" name="Text 3"/>
          <p:cNvSpPr/>
          <p:nvPr/>
        </p:nvSpPr>
        <p:spPr>
          <a:xfrm>
            <a:off x="10332720" y="502920"/>
            <a:ext cx="1097280" cy="320040"/>
          </a:xfrm>
          <a:prstGeom prst="rect">
            <a:avLst/>
          </a:prstGeom>
          <a:noFill/>
          <a:ln/>
        </p:spPr>
        <p:txBody>
          <a:bodyPr wrap="square" rtlCol="0" anchor="ctr"/>
          <a:lstStyle/>
          <a:p>
            <a:pPr algn="r" indent="0" marL="0">
              <a:buNone/>
            </a:pPr>
            <a:r>
              <a:rPr lang="en-US" sz="1100" b="1" dirty="0">
                <a:solidFill>
                  <a:srgbClr val="94A3B8"/>
                </a:solidFill>
                <a:latin typeface="Segoe UI" pitchFamily="34" charset="0"/>
                <a:ea typeface="Segoe UI" pitchFamily="34" charset="-122"/>
                <a:cs typeface="Segoe UI" pitchFamily="34" charset="-120"/>
              </a:rPr>
              <a:t>2 / 12</a:t>
            </a:r>
            <a:endParaRPr lang="en-US" sz="1100" dirty="0"/>
          </a:p>
        </p:txBody>
      </p:sp>
      <p:sp>
        <p:nvSpPr>
          <p:cNvPr id="6" name="Shape 4"/>
          <p:cNvSpPr/>
          <p:nvPr/>
        </p:nvSpPr>
        <p:spPr>
          <a:xfrm>
            <a:off x="731520" y="1143000"/>
            <a:ext cx="10725912" cy="0"/>
          </a:xfrm>
          <a:prstGeom prst="line">
            <a:avLst/>
          </a:prstGeom>
          <a:noFill/>
          <a:ln w="15240">
            <a:solidFill>
              <a:srgbClr val="232D42"/>
            </a:solidFill>
            <a:prstDash val="solid"/>
          </a:ln>
        </p:spPr>
      </p:sp>
      <p:sp>
        <p:nvSpPr>
          <p:cNvPr id="7" name="Shape 5"/>
          <p:cNvSpPr/>
          <p:nvPr/>
        </p:nvSpPr>
        <p:spPr>
          <a:xfrm>
            <a:off x="731520" y="1417320"/>
            <a:ext cx="5120640" cy="4754880"/>
          </a:xfrm>
          <a:prstGeom prst="roundRect">
            <a:avLst>
              <a:gd name="adj" fmla="val 2885"/>
            </a:avLst>
          </a:prstGeom>
          <a:solidFill>
            <a:srgbClr val="141A29"/>
          </a:solidFill>
          <a:ln w="12700">
            <a:solidFill>
              <a:srgbClr val="232D42"/>
            </a:solidFill>
            <a:prstDash val="solid"/>
          </a:ln>
        </p:spPr>
      </p:sp>
      <p:sp>
        <p:nvSpPr>
          <p:cNvPr id="8" name="Text 6"/>
          <p:cNvSpPr/>
          <p:nvPr/>
        </p:nvSpPr>
        <p:spPr>
          <a:xfrm>
            <a:off x="1005840" y="1600200"/>
            <a:ext cx="4572000" cy="4389120"/>
          </a:xfrm>
          <a:prstGeom prst="rect">
            <a:avLst/>
          </a:prstGeom>
          <a:noFill/>
          <a:ln/>
        </p:spPr>
        <p:txBody>
          <a:bodyPr wrap="square" rtlCol="0" anchor="ctr"/>
          <a:lstStyle/>
          <a:p>
            <a:pPr indent="0" marL="0">
              <a:lnSpc>
                <a:spcPts val="1500"/>
              </a:lnSpc>
              <a:buNone/>
            </a:pPr>
            <a:r>
              <a:rPr lang="en-US" sz="1200" b="1" dirty="0">
                <a:solidFill>
                  <a:srgbClr val="6366F1"/>
                </a:solidFill>
                <a:latin typeface="Calibri" pitchFamily="34" charset="0"/>
                <a:ea typeface="Calibri" pitchFamily="34" charset="-122"/>
                <a:cs typeface="Calibri" pitchFamily="34" charset="-120"/>
              </a:rPr>
              <a:t>1. Scattered &amp; Fragmented Notice Distribution: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Event flyers and circulars get buried across multiple unorganized WhatsApp groups, chaotic email inboxes, and physical notice boards. Students frequently miss critical deadlines and venue announcements.
</a:t>
            </a:r>
            <a:pPr indent="0" marL="0">
              <a:lnSpc>
                <a:spcPts val="1500"/>
              </a:lnSpc>
              <a:buNone/>
            </a:pPr>
            <a:r>
              <a:rPr lang="en-US" sz="1200" b="1" dirty="0">
                <a:solidFill>
                  <a:srgbClr val="6366F1"/>
                </a:solidFill>
                <a:latin typeface="Calibri" pitchFamily="34" charset="0"/>
                <a:ea typeface="Calibri" pitchFamily="34" charset="-122"/>
                <a:cs typeface="Calibri" pitchFamily="34" charset="-120"/>
              </a:rPr>
              <a:t>2. Inefficient &amp; Manual Registration Queues: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Paper forms and manual spreadsheet entries create massive desk bottlenecks, handwriting errors, lost registrations, and frequent seat overbooking due to lack of real-time capacity locks.
</a:t>
            </a:r>
            <a:pPr indent="0" marL="0">
              <a:lnSpc>
                <a:spcPts val="1500"/>
              </a:lnSpc>
              <a:buNone/>
            </a:pPr>
            <a:r>
              <a:rPr lang="en-US" sz="1200" b="1" dirty="0">
                <a:solidFill>
                  <a:srgbClr val="6366F1"/>
                </a:solidFill>
                <a:latin typeface="Calibri" pitchFamily="34" charset="0"/>
                <a:ea typeface="Calibri" pitchFamily="34" charset="-122"/>
                <a:cs typeface="Calibri" pitchFamily="34" charset="-120"/>
              </a:rPr>
              <a:t>3. Low Student Feedback Participation: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Traditional post-event Google Forms see less than 10% student participation, with zero automated sentiment analysis, leaving organizers blind to attendee satisfaction.
</a:t>
            </a:r>
            <a:pPr indent="0" marL="0">
              <a:lnSpc>
                <a:spcPts val="1500"/>
              </a:lnSpc>
              <a:buNone/>
            </a:pPr>
            <a:r>
              <a:rPr lang="en-US" sz="1200" b="1" dirty="0">
                <a:solidFill>
                  <a:srgbClr val="6366F1"/>
                </a:solidFill>
                <a:latin typeface="Calibri" pitchFamily="34" charset="0"/>
                <a:ea typeface="Calibri" pitchFamily="34" charset="-122"/>
                <a:cs typeface="Calibri" pitchFamily="34" charset="-120"/>
              </a:rPr>
              <a:t>4. Heavy Accreditation (NAAC/NBA) Documentation: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Faculty coordinators spend weeks compiling attendance records, photos, and outcomes manually for institutional accreditation audits.</a:t>
            </a:r>
            <a:endParaRPr lang="en-US" sz="1200" dirty="0"/>
          </a:p>
        </p:txBody>
      </p:sp>
      <p:sp>
        <p:nvSpPr>
          <p:cNvPr id="9" name="Shape 7"/>
          <p:cNvSpPr/>
          <p:nvPr/>
        </p:nvSpPr>
        <p:spPr>
          <a:xfrm>
            <a:off x="6217920" y="1417320"/>
            <a:ext cx="5212080" cy="4754880"/>
          </a:xfrm>
          <a:prstGeom prst="roundRect">
            <a:avLst>
              <a:gd name="adj" fmla="val 2885"/>
            </a:avLst>
          </a:prstGeom>
          <a:solidFill>
            <a:srgbClr val="141A29"/>
          </a:solidFill>
          <a:ln w="19050">
            <a:solidFill>
              <a:srgbClr val="6366F1"/>
            </a:solidFill>
            <a:prstDash val="dash"/>
          </a:ln>
        </p:spPr>
      </p:sp>
      <p:sp>
        <p:nvSpPr>
          <p:cNvPr id="10" name="Shape 8"/>
          <p:cNvSpPr/>
          <p:nvPr/>
        </p:nvSpPr>
        <p:spPr>
          <a:xfrm>
            <a:off x="6583680" y="1783080"/>
            <a:ext cx="2011680" cy="320040"/>
          </a:xfrm>
          <a:prstGeom prst="roundRect">
            <a:avLst>
              <a:gd name="adj" fmla="val 22857"/>
            </a:avLst>
          </a:prstGeom>
          <a:solidFill>
            <a:srgbClr val="1E2638"/>
          </a:solidFill>
          <a:ln w="12700">
            <a:solidFill>
              <a:srgbClr val="8B5CF6"/>
            </a:solidFill>
            <a:prstDash val="solid"/>
          </a:ln>
        </p:spPr>
      </p:sp>
      <p:sp>
        <p:nvSpPr>
          <p:cNvPr id="11" name="Text 9"/>
          <p:cNvSpPr/>
          <p:nvPr/>
        </p:nvSpPr>
        <p:spPr>
          <a:xfrm>
            <a:off x="6583680" y="1783080"/>
            <a:ext cx="2011680" cy="320040"/>
          </a:xfrm>
          <a:prstGeom prst="rect">
            <a:avLst/>
          </a:prstGeom>
          <a:noFill/>
          <a:ln/>
        </p:spPr>
        <p:txBody>
          <a:bodyPr wrap="square" rtlCol="0" anchor="ctr"/>
          <a:lstStyle/>
          <a:p>
            <a:pPr algn="ctr" indent="0" marL="0">
              <a:buNone/>
            </a:pPr>
            <a:r>
              <a:rPr lang="en-US" sz="900" b="1" dirty="0">
                <a:solidFill>
                  <a:srgbClr val="8B5CF6"/>
                </a:solidFill>
                <a:latin typeface="Segoe UI" pitchFamily="34" charset="0"/>
                <a:ea typeface="Segoe UI" pitchFamily="34" charset="-122"/>
                <a:cs typeface="Segoe UI" pitchFamily="34" charset="-120"/>
              </a:rPr>
              <a:t>IMAGE / SCREENSHOT</a:t>
            </a:r>
            <a:endParaRPr lang="en-US" sz="900" dirty="0"/>
          </a:p>
        </p:txBody>
      </p:sp>
      <p:sp>
        <p:nvSpPr>
          <p:cNvPr id="12" name="Text 10"/>
          <p:cNvSpPr/>
          <p:nvPr/>
        </p:nvSpPr>
        <p:spPr>
          <a:xfrm>
            <a:off x="6583680" y="3063240"/>
            <a:ext cx="4480560" cy="73152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[INSERT SCREENSHOT / GRAPHIC]</a:t>
            </a:r>
            <a:endParaRPr lang="en-US" sz="1400" dirty="0"/>
          </a:p>
        </p:txBody>
      </p:sp>
      <p:sp>
        <p:nvSpPr>
          <p:cNvPr id="13" name="Text 11"/>
          <p:cNvSpPr/>
          <p:nvPr/>
        </p:nvSpPr>
        <p:spPr>
          <a:xfrm>
            <a:off x="6583680" y="3794760"/>
            <a:ext cx="4480560" cy="109728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Diagram showing chaotic campus paper notices, fragmented WhatsApp circulars, and long manual registration queues.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731520" y="365760"/>
            <a:ext cx="10725912" cy="822960"/>
          </a:xfrm>
          <a:prstGeom prst="rect">
            <a:avLst/>
          </a:prstGeom>
          <a:solidFill>
            <a:srgbClr val="000000">
              <a:alpha val="0"/>
            </a:srgbClr>
          </a:solidFill>
          <a:ln w="12700">
            <a:solidFill>
              <a:srgbClr val="000000">
                <a:alpha val="0"/>
              </a:srgbClr>
            </a:solidFill>
            <a:prstDash val="solid"/>
          </a:ln>
        </p:spPr>
      </p:sp>
      <p:sp>
        <p:nvSpPr>
          <p:cNvPr id="3" name="Text 1"/>
          <p:cNvSpPr/>
          <p:nvPr/>
        </p:nvSpPr>
        <p:spPr>
          <a:xfrm>
            <a:off x="731520" y="411480"/>
            <a:ext cx="7315200" cy="228600"/>
          </a:xfrm>
          <a:prstGeom prst="rect">
            <a:avLst/>
          </a:prstGeom>
          <a:noFill/>
          <a:ln/>
        </p:spPr>
        <p:txBody>
          <a:bodyPr wrap="square" rtlCol="0" anchor="ctr"/>
          <a:lstStyle/>
          <a:p>
            <a:pPr indent="0" marL="0">
              <a:buNone/>
            </a:pPr>
            <a:r>
              <a:rPr lang="en-US" sz="1000" b="1" spc="150" kern="0" dirty="0">
                <a:solidFill>
                  <a:srgbClr val="6366F1"/>
                </a:solidFill>
                <a:latin typeface="Calibri" pitchFamily="34" charset="0"/>
                <a:ea typeface="Calibri" pitchFamily="34" charset="-122"/>
                <a:cs typeface="Calibri" pitchFamily="34" charset="-120"/>
              </a:rPr>
              <a:t>02 / STRATEGIC VISION</a:t>
            </a:r>
            <a:endParaRPr lang="en-US" sz="1000" dirty="0"/>
          </a:p>
        </p:txBody>
      </p:sp>
      <p:sp>
        <p:nvSpPr>
          <p:cNvPr id="4" name="Text 2"/>
          <p:cNvSpPr/>
          <p:nvPr/>
        </p:nvSpPr>
        <p:spPr>
          <a:xfrm>
            <a:off x="731520" y="658368"/>
            <a:ext cx="8686800" cy="45720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Proposed Solution &amp; Project Objectives</a:t>
            </a:r>
            <a:endParaRPr lang="en-US" sz="2200" dirty="0"/>
          </a:p>
        </p:txBody>
      </p:sp>
      <p:sp>
        <p:nvSpPr>
          <p:cNvPr id="5" name="Text 3"/>
          <p:cNvSpPr/>
          <p:nvPr/>
        </p:nvSpPr>
        <p:spPr>
          <a:xfrm>
            <a:off x="10332720" y="502920"/>
            <a:ext cx="1097280" cy="320040"/>
          </a:xfrm>
          <a:prstGeom prst="rect">
            <a:avLst/>
          </a:prstGeom>
          <a:noFill/>
          <a:ln/>
        </p:spPr>
        <p:txBody>
          <a:bodyPr wrap="square" rtlCol="0" anchor="ctr"/>
          <a:lstStyle/>
          <a:p>
            <a:pPr algn="r" indent="0" marL="0">
              <a:buNone/>
            </a:pPr>
            <a:r>
              <a:rPr lang="en-US" sz="1100" b="1" dirty="0">
                <a:solidFill>
                  <a:srgbClr val="94A3B8"/>
                </a:solidFill>
                <a:latin typeface="Segoe UI" pitchFamily="34" charset="0"/>
                <a:ea typeface="Segoe UI" pitchFamily="34" charset="-122"/>
                <a:cs typeface="Segoe UI" pitchFamily="34" charset="-120"/>
              </a:rPr>
              <a:t>3 / 12</a:t>
            </a:r>
            <a:endParaRPr lang="en-US" sz="1100" dirty="0"/>
          </a:p>
        </p:txBody>
      </p:sp>
      <p:sp>
        <p:nvSpPr>
          <p:cNvPr id="6" name="Shape 4"/>
          <p:cNvSpPr/>
          <p:nvPr/>
        </p:nvSpPr>
        <p:spPr>
          <a:xfrm>
            <a:off x="731520" y="1143000"/>
            <a:ext cx="10725912" cy="0"/>
          </a:xfrm>
          <a:prstGeom prst="line">
            <a:avLst/>
          </a:prstGeom>
          <a:noFill/>
          <a:ln w="15240">
            <a:solidFill>
              <a:srgbClr val="232D42"/>
            </a:solidFill>
            <a:prstDash val="solid"/>
          </a:ln>
        </p:spPr>
      </p:sp>
      <p:sp>
        <p:nvSpPr>
          <p:cNvPr id="7" name="Shape 5"/>
          <p:cNvSpPr/>
          <p:nvPr/>
        </p:nvSpPr>
        <p:spPr>
          <a:xfrm>
            <a:off x="731520" y="1417320"/>
            <a:ext cx="5120640" cy="4754880"/>
          </a:xfrm>
          <a:prstGeom prst="roundRect">
            <a:avLst>
              <a:gd name="adj" fmla="val 2885"/>
            </a:avLst>
          </a:prstGeom>
          <a:solidFill>
            <a:srgbClr val="141A29"/>
          </a:solidFill>
          <a:ln w="12700">
            <a:solidFill>
              <a:srgbClr val="232D42"/>
            </a:solidFill>
            <a:prstDash val="solid"/>
          </a:ln>
        </p:spPr>
      </p:sp>
      <p:sp>
        <p:nvSpPr>
          <p:cNvPr id="8" name="Text 6"/>
          <p:cNvSpPr/>
          <p:nvPr/>
        </p:nvSpPr>
        <p:spPr>
          <a:xfrm>
            <a:off x="1005840" y="1600200"/>
            <a:ext cx="4572000" cy="4389120"/>
          </a:xfrm>
          <a:prstGeom prst="rect">
            <a:avLst/>
          </a:prstGeom>
          <a:noFill/>
          <a:ln/>
        </p:spPr>
        <p:txBody>
          <a:bodyPr wrap="square" rtlCol="0" anchor="ctr"/>
          <a:lstStyle/>
          <a:p>
            <a:pPr indent="0" marL="0">
              <a:lnSpc>
                <a:spcPts val="1500"/>
              </a:lnSpc>
              <a:buNone/>
            </a:pPr>
            <a:r>
              <a:rPr lang="en-US" sz="1200" b="1" dirty="0">
                <a:solidFill>
                  <a:srgbClr val="8B5CF6"/>
                </a:solidFill>
                <a:latin typeface="Calibri" pitchFamily="34" charset="0"/>
                <a:ea typeface="Calibri" pitchFamily="34" charset="-122"/>
                <a:cs typeface="Calibri" pitchFamily="34" charset="-120"/>
              </a:rPr>
              <a:t>1. Centralized Campus Event Hub: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A single unified responsive web and mobile portal aggregating Technical, Cultural, Sports, and Academic Workshop events across all departments.
</a:t>
            </a:r>
            <a:pPr indent="0" marL="0">
              <a:lnSpc>
                <a:spcPts val="1500"/>
              </a:lnSpc>
              <a:buNone/>
            </a:pPr>
            <a:r>
              <a:rPr lang="en-US" sz="1200" b="1" dirty="0">
                <a:solidFill>
                  <a:srgbClr val="8B5CF6"/>
                </a:solidFill>
                <a:latin typeface="Calibri" pitchFamily="34" charset="0"/>
                <a:ea typeface="Calibri" pitchFamily="34" charset="-122"/>
                <a:cs typeface="Calibri" pitchFamily="34" charset="-120"/>
              </a:rPr>
              <a:t>2. Simple 1-Click RSVP with Capacity Control: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Instant seat reservation backed by atomic database locks to prevent overbooking, accompanied by an instant digital Registration Confirmation Card.
</a:t>
            </a:r>
            <a:pPr indent="0" marL="0">
              <a:lnSpc>
                <a:spcPts val="1500"/>
              </a:lnSpc>
              <a:buNone/>
            </a:pPr>
            <a:r>
              <a:rPr lang="en-US" sz="1200" b="1" dirty="0">
                <a:solidFill>
                  <a:srgbClr val="8B5CF6"/>
                </a:solidFill>
                <a:latin typeface="Calibri" pitchFamily="34" charset="0"/>
                <a:ea typeface="Calibri" pitchFamily="34" charset="-122"/>
                <a:cs typeface="Calibri" pitchFamily="34" charset="-120"/>
              </a:rPr>
              <a:t>3. Interactive In-Session Student Q&amp;A: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Live session engagement board with atomic deduplicated student upvotes, allowing trending questions to rise to the speaker's attention.
</a:t>
            </a:r>
            <a:pPr indent="0" marL="0">
              <a:lnSpc>
                <a:spcPts val="1500"/>
              </a:lnSpc>
              <a:buNone/>
            </a:pPr>
            <a:r>
              <a:rPr lang="en-US" sz="1200" b="1" dirty="0">
                <a:solidFill>
                  <a:srgbClr val="8B5CF6"/>
                </a:solidFill>
                <a:latin typeface="Calibri" pitchFamily="34" charset="0"/>
                <a:ea typeface="Calibri" pitchFamily="34" charset="-122"/>
                <a:cs typeface="Calibri" pitchFamily="34" charset="-120"/>
              </a:rPr>
              <a:t>4. Dynamic Feedback &amp; Automated Accreditation Reports: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Google-Forms-style survey builder with real-time Net Promoter Score (NPS) analytics and 1-Click Executive PDF Letterhead reports for college administration.</a:t>
            </a:r>
            <a:endParaRPr lang="en-US" sz="1200" dirty="0"/>
          </a:p>
        </p:txBody>
      </p:sp>
      <p:sp>
        <p:nvSpPr>
          <p:cNvPr id="9" name="Shape 7"/>
          <p:cNvSpPr/>
          <p:nvPr/>
        </p:nvSpPr>
        <p:spPr>
          <a:xfrm>
            <a:off x="6217920" y="1417320"/>
            <a:ext cx="5212080" cy="4754880"/>
          </a:xfrm>
          <a:prstGeom prst="roundRect">
            <a:avLst>
              <a:gd name="adj" fmla="val 2885"/>
            </a:avLst>
          </a:prstGeom>
          <a:solidFill>
            <a:srgbClr val="141A29"/>
          </a:solidFill>
          <a:ln w="19050">
            <a:solidFill>
              <a:srgbClr val="6366F1"/>
            </a:solidFill>
            <a:prstDash val="dash"/>
          </a:ln>
        </p:spPr>
      </p:sp>
      <p:sp>
        <p:nvSpPr>
          <p:cNvPr id="10" name="Shape 8"/>
          <p:cNvSpPr/>
          <p:nvPr/>
        </p:nvSpPr>
        <p:spPr>
          <a:xfrm>
            <a:off x="6583680" y="1783080"/>
            <a:ext cx="2011680" cy="320040"/>
          </a:xfrm>
          <a:prstGeom prst="roundRect">
            <a:avLst>
              <a:gd name="adj" fmla="val 22857"/>
            </a:avLst>
          </a:prstGeom>
          <a:solidFill>
            <a:srgbClr val="1E2638"/>
          </a:solidFill>
          <a:ln w="12700">
            <a:solidFill>
              <a:srgbClr val="8B5CF6"/>
            </a:solidFill>
            <a:prstDash val="solid"/>
          </a:ln>
        </p:spPr>
      </p:sp>
      <p:sp>
        <p:nvSpPr>
          <p:cNvPr id="11" name="Text 9"/>
          <p:cNvSpPr/>
          <p:nvPr/>
        </p:nvSpPr>
        <p:spPr>
          <a:xfrm>
            <a:off x="6583680" y="1783080"/>
            <a:ext cx="2011680" cy="320040"/>
          </a:xfrm>
          <a:prstGeom prst="rect">
            <a:avLst/>
          </a:prstGeom>
          <a:noFill/>
          <a:ln/>
        </p:spPr>
        <p:txBody>
          <a:bodyPr wrap="square" rtlCol="0" anchor="ctr"/>
          <a:lstStyle/>
          <a:p>
            <a:pPr algn="ctr" indent="0" marL="0">
              <a:buNone/>
            </a:pPr>
            <a:r>
              <a:rPr lang="en-US" sz="900" b="1" dirty="0">
                <a:solidFill>
                  <a:srgbClr val="8B5CF6"/>
                </a:solidFill>
                <a:latin typeface="Segoe UI" pitchFamily="34" charset="0"/>
                <a:ea typeface="Segoe UI" pitchFamily="34" charset="-122"/>
                <a:cs typeface="Segoe UI" pitchFamily="34" charset="-120"/>
              </a:rPr>
              <a:t>IMAGE / SCREENSHOT</a:t>
            </a:r>
            <a:endParaRPr lang="en-US" sz="900" dirty="0"/>
          </a:p>
        </p:txBody>
      </p:sp>
      <p:sp>
        <p:nvSpPr>
          <p:cNvPr id="12" name="Text 10"/>
          <p:cNvSpPr/>
          <p:nvPr/>
        </p:nvSpPr>
        <p:spPr>
          <a:xfrm>
            <a:off x="6583680" y="3063240"/>
            <a:ext cx="4480560" cy="73152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[INSERT SCREENSHOT / DIAGRAM]</a:t>
            </a:r>
            <a:endParaRPr lang="en-US" sz="1400" dirty="0"/>
          </a:p>
        </p:txBody>
      </p:sp>
      <p:sp>
        <p:nvSpPr>
          <p:cNvPr id="13" name="Text 11"/>
          <p:cNvSpPr/>
          <p:nvPr/>
        </p:nvSpPr>
        <p:spPr>
          <a:xfrm>
            <a:off x="6583680" y="3794760"/>
            <a:ext cx="4480560" cy="109728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CampusPulse high-level ecosystem diagram connecting Students, Event Coordinators, Live Q&amp;A, Feedback, and Admin Reports.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731520" y="365760"/>
            <a:ext cx="10725912" cy="822960"/>
          </a:xfrm>
          <a:prstGeom prst="rect">
            <a:avLst/>
          </a:prstGeom>
          <a:solidFill>
            <a:srgbClr val="000000">
              <a:alpha val="0"/>
            </a:srgbClr>
          </a:solidFill>
          <a:ln w="12700">
            <a:solidFill>
              <a:srgbClr val="000000">
                <a:alpha val="0"/>
              </a:srgbClr>
            </a:solidFill>
            <a:prstDash val="solid"/>
          </a:ln>
        </p:spPr>
      </p:sp>
      <p:sp>
        <p:nvSpPr>
          <p:cNvPr id="3" name="Text 1"/>
          <p:cNvSpPr/>
          <p:nvPr/>
        </p:nvSpPr>
        <p:spPr>
          <a:xfrm>
            <a:off x="731520" y="411480"/>
            <a:ext cx="7315200" cy="228600"/>
          </a:xfrm>
          <a:prstGeom prst="rect">
            <a:avLst/>
          </a:prstGeom>
          <a:noFill/>
          <a:ln/>
        </p:spPr>
        <p:txBody>
          <a:bodyPr wrap="square" rtlCol="0" anchor="ctr"/>
          <a:lstStyle/>
          <a:p>
            <a:pPr indent="0" marL="0">
              <a:buNone/>
            </a:pPr>
            <a:r>
              <a:rPr lang="en-US" sz="1000" b="1" spc="150" kern="0" dirty="0">
                <a:solidFill>
                  <a:srgbClr val="6366F1"/>
                </a:solidFill>
                <a:latin typeface="Calibri" pitchFamily="34" charset="0"/>
                <a:ea typeface="Calibri" pitchFamily="34" charset="-122"/>
                <a:cs typeface="Calibri" pitchFamily="34" charset="-120"/>
              </a:rPr>
              <a:t>03 / TECHNICAL OVERVIEW</a:t>
            </a:r>
            <a:endParaRPr lang="en-US" sz="1000" dirty="0"/>
          </a:p>
        </p:txBody>
      </p:sp>
      <p:sp>
        <p:nvSpPr>
          <p:cNvPr id="4" name="Text 2"/>
          <p:cNvSpPr/>
          <p:nvPr/>
        </p:nvSpPr>
        <p:spPr>
          <a:xfrm>
            <a:off x="731520" y="658368"/>
            <a:ext cx="8686800" cy="45720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System Architecture &amp; Technologies Used</a:t>
            </a:r>
            <a:endParaRPr lang="en-US" sz="2200" dirty="0"/>
          </a:p>
        </p:txBody>
      </p:sp>
      <p:sp>
        <p:nvSpPr>
          <p:cNvPr id="5" name="Text 3"/>
          <p:cNvSpPr/>
          <p:nvPr/>
        </p:nvSpPr>
        <p:spPr>
          <a:xfrm>
            <a:off x="10332720" y="502920"/>
            <a:ext cx="1097280" cy="320040"/>
          </a:xfrm>
          <a:prstGeom prst="rect">
            <a:avLst/>
          </a:prstGeom>
          <a:noFill/>
          <a:ln/>
        </p:spPr>
        <p:txBody>
          <a:bodyPr wrap="square" rtlCol="0" anchor="ctr"/>
          <a:lstStyle/>
          <a:p>
            <a:pPr algn="r" indent="0" marL="0">
              <a:buNone/>
            </a:pPr>
            <a:r>
              <a:rPr lang="en-US" sz="1100" b="1" dirty="0">
                <a:solidFill>
                  <a:srgbClr val="94A3B8"/>
                </a:solidFill>
                <a:latin typeface="Segoe UI" pitchFamily="34" charset="0"/>
                <a:ea typeface="Segoe UI" pitchFamily="34" charset="-122"/>
                <a:cs typeface="Segoe UI" pitchFamily="34" charset="-120"/>
              </a:rPr>
              <a:t>4 / 12</a:t>
            </a:r>
            <a:endParaRPr lang="en-US" sz="1100" dirty="0"/>
          </a:p>
        </p:txBody>
      </p:sp>
      <p:sp>
        <p:nvSpPr>
          <p:cNvPr id="6" name="Shape 4"/>
          <p:cNvSpPr/>
          <p:nvPr/>
        </p:nvSpPr>
        <p:spPr>
          <a:xfrm>
            <a:off x="731520" y="1143000"/>
            <a:ext cx="10725912" cy="0"/>
          </a:xfrm>
          <a:prstGeom prst="line">
            <a:avLst/>
          </a:prstGeom>
          <a:noFill/>
          <a:ln w="15240">
            <a:solidFill>
              <a:srgbClr val="232D42"/>
            </a:solidFill>
            <a:prstDash val="solid"/>
          </a:ln>
        </p:spPr>
      </p:sp>
      <p:sp>
        <p:nvSpPr>
          <p:cNvPr id="7" name="Shape 5"/>
          <p:cNvSpPr/>
          <p:nvPr/>
        </p:nvSpPr>
        <p:spPr>
          <a:xfrm>
            <a:off x="731520" y="1417320"/>
            <a:ext cx="5120640" cy="4754880"/>
          </a:xfrm>
          <a:prstGeom prst="roundRect">
            <a:avLst>
              <a:gd name="adj" fmla="val 2885"/>
            </a:avLst>
          </a:prstGeom>
          <a:solidFill>
            <a:srgbClr val="141A29"/>
          </a:solidFill>
          <a:ln w="12700">
            <a:solidFill>
              <a:srgbClr val="232D42"/>
            </a:solidFill>
            <a:prstDash val="solid"/>
          </a:ln>
        </p:spPr>
      </p:sp>
      <p:sp>
        <p:nvSpPr>
          <p:cNvPr id="8" name="Text 6"/>
          <p:cNvSpPr/>
          <p:nvPr/>
        </p:nvSpPr>
        <p:spPr>
          <a:xfrm>
            <a:off x="1005840" y="1554480"/>
            <a:ext cx="4572000" cy="4389120"/>
          </a:xfrm>
          <a:prstGeom prst="rect">
            <a:avLst/>
          </a:prstGeom>
          <a:noFill/>
          <a:ln/>
        </p:spPr>
        <p:txBody>
          <a:bodyPr wrap="square" rtlCol="0" anchor="ctr"/>
          <a:lstStyle/>
          <a:p>
            <a:pPr indent="0" marL="0">
              <a:lnSpc>
                <a:spcPts val="1400"/>
              </a:lnSpc>
              <a:buNone/>
            </a:pPr>
            <a:r>
              <a:rPr lang="en-US" sz="1150" b="1" dirty="0">
                <a:solidFill>
                  <a:srgbClr val="6366F1"/>
                </a:solidFill>
                <a:latin typeface="Calibri" pitchFamily="34" charset="0"/>
                <a:ea typeface="Calibri" pitchFamily="34" charset="-122"/>
                <a:cs typeface="Calibri" pitchFamily="34" charset="-120"/>
              </a:rPr>
              <a:t>1. Frontend (User Interface):
</a:t>
            </a:r>
            <a:pPr indent="0" marL="0">
              <a:lnSpc>
                <a:spcPts val="1400"/>
              </a:lnSpc>
              <a:buNone/>
            </a:pPr>
            <a:r>
              <a:rPr lang="en-US" sz="1000" dirty="0">
                <a:solidFill>
                  <a:srgbClr val="E2E8F0"/>
                </a:solidFill>
                <a:latin typeface="Calibri" pitchFamily="34" charset="0"/>
                <a:ea typeface="Calibri" pitchFamily="34" charset="-122"/>
                <a:cs typeface="Calibri" pitchFamily="34" charset="-120"/>
              </a:rPr>
              <a:t>• React.js &amp; Next.js: For building clean, interactive web pages and smooth page navigation.
• Tailwind CSS: Provides a modern, responsive design that works on both mobile phones and laptops.
</a:t>
            </a:r>
            <a:pPr indent="0" marL="0">
              <a:lnSpc>
                <a:spcPts val="1400"/>
              </a:lnSpc>
              <a:buNone/>
            </a:pPr>
            <a:r>
              <a:rPr lang="en-US" sz="1150" b="1" dirty="0">
                <a:solidFill>
                  <a:srgbClr val="6366F1"/>
                </a:solidFill>
                <a:latin typeface="Calibri" pitchFamily="34" charset="0"/>
                <a:ea typeface="Calibri" pitchFamily="34" charset="-122"/>
                <a:cs typeface="Calibri" pitchFamily="34" charset="-120"/>
              </a:rPr>
              <a:t>2. Backend (Application Logic):
</a:t>
            </a:r>
            <a:pPr indent="0" marL="0">
              <a:lnSpc>
                <a:spcPts val="1400"/>
              </a:lnSpc>
              <a:buNone/>
            </a:pPr>
            <a:r>
              <a:rPr lang="en-US" sz="1000" dirty="0">
                <a:solidFill>
                  <a:srgbClr val="E2E8F0"/>
                </a:solidFill>
                <a:latin typeface="Calibri" pitchFamily="34" charset="0"/>
                <a:ea typeface="Calibri" pitchFamily="34" charset="-122"/>
                <a:cs typeface="Calibri" pitchFamily="34" charset="-120"/>
              </a:rPr>
              <a:t>• Node.js &amp; Next.js: Handles event registrations, form submissions, and user requests.
• NextAuth: Simple and secure login management for students and college admins.
</a:t>
            </a:r>
            <a:pPr indent="0" marL="0">
              <a:lnSpc>
                <a:spcPts val="1400"/>
              </a:lnSpc>
              <a:buNone/>
            </a:pPr>
            <a:r>
              <a:rPr lang="en-US" sz="1150" b="1" dirty="0">
                <a:solidFill>
                  <a:srgbClr val="6366F1"/>
                </a:solidFill>
                <a:latin typeface="Calibri" pitchFamily="34" charset="0"/>
                <a:ea typeface="Calibri" pitchFamily="34" charset="-122"/>
                <a:cs typeface="Calibri" pitchFamily="34" charset="-120"/>
              </a:rPr>
              <a:t>3. Database (Data Storage):
</a:t>
            </a:r>
            <a:pPr indent="0" marL="0">
              <a:lnSpc>
                <a:spcPts val="1400"/>
              </a:lnSpc>
              <a:buNone/>
            </a:pPr>
            <a:r>
              <a:rPr lang="en-US" sz="1000" dirty="0">
                <a:solidFill>
                  <a:srgbClr val="E2E8F0"/>
                </a:solidFill>
                <a:latin typeface="Calibri" pitchFamily="34" charset="0"/>
                <a:ea typeface="Calibri" pitchFamily="34" charset="-122"/>
                <a:cs typeface="Calibri" pitchFamily="34" charset="-120"/>
              </a:rPr>
              <a:t>• MongoDB Atlas: Cloud NoSQL database that stores user profiles, event details, and survey feedback.
• Mongoose: Connects our application easily to MongoDB with structured data schemas.
</a:t>
            </a:r>
            <a:pPr indent="0" marL="0">
              <a:lnSpc>
                <a:spcPts val="1400"/>
              </a:lnSpc>
              <a:buNone/>
            </a:pPr>
            <a:r>
              <a:rPr lang="en-US" sz="1150" b="1" dirty="0">
                <a:solidFill>
                  <a:srgbClr val="6366F1"/>
                </a:solidFill>
                <a:latin typeface="Calibri" pitchFamily="34" charset="0"/>
                <a:ea typeface="Calibri" pitchFamily="34" charset="-122"/>
                <a:cs typeface="Calibri" pitchFamily="34" charset="-120"/>
              </a:rPr>
              <a:t>4. Architecture &amp; Mobile Support:
</a:t>
            </a:r>
            <a:pPr indent="0" marL="0">
              <a:lnSpc>
                <a:spcPts val="1400"/>
              </a:lnSpc>
              <a:buNone/>
            </a:pPr>
            <a:r>
              <a:rPr lang="en-US" sz="1000" dirty="0">
                <a:solidFill>
                  <a:srgbClr val="E2E8F0"/>
                </a:solidFill>
                <a:latin typeface="Calibri" pitchFamily="34" charset="0"/>
                <a:ea typeface="Calibri" pitchFamily="34" charset="-122"/>
                <a:cs typeface="Calibri" pitchFamily="34" charset="-120"/>
              </a:rPr>
              <a:t>• 3-Tier Architecture: Presentation Layer (UI) → Application Layer (Server) → Database (MongoDB).</a:t>
            </a:r>
            <a:endParaRPr lang="en-US" sz="1150" dirty="0"/>
          </a:p>
          <a:p>
            <a:pPr indent="0" marL="0">
              <a:lnSpc>
                <a:spcPts val="1400"/>
              </a:lnSpc>
              <a:buNone/>
            </a:pPr>
            <a:r>
              <a:rPr lang="en-US" sz="1000" dirty="0">
                <a:solidFill>
                  <a:srgbClr val="E2E8F0"/>
                </a:solidFill>
                <a:latin typeface="Calibri" pitchFamily="34" charset="0"/>
                <a:ea typeface="Calibri" pitchFamily="34" charset="-122"/>
                <a:cs typeface="Calibri" pitchFamily="34" charset="-120"/>
              </a:rPr>
              <a:t>• Capacitor: Packages the web project into an installable Android App (APK).</a:t>
            </a:r>
            <a:endParaRPr lang="en-US" sz="1150" dirty="0"/>
          </a:p>
        </p:txBody>
      </p:sp>
      <p:sp>
        <p:nvSpPr>
          <p:cNvPr id="9" name="Shape 7"/>
          <p:cNvSpPr/>
          <p:nvPr/>
        </p:nvSpPr>
        <p:spPr>
          <a:xfrm>
            <a:off x="6217920" y="1417320"/>
            <a:ext cx="5212080" cy="4754880"/>
          </a:xfrm>
          <a:prstGeom prst="roundRect">
            <a:avLst>
              <a:gd name="adj" fmla="val 2885"/>
            </a:avLst>
          </a:prstGeom>
          <a:solidFill>
            <a:srgbClr val="141A29"/>
          </a:solidFill>
          <a:ln w="19050">
            <a:solidFill>
              <a:srgbClr val="6366F1"/>
            </a:solidFill>
            <a:prstDash val="dash"/>
          </a:ln>
        </p:spPr>
      </p:sp>
      <p:sp>
        <p:nvSpPr>
          <p:cNvPr id="10" name="Shape 8"/>
          <p:cNvSpPr/>
          <p:nvPr/>
        </p:nvSpPr>
        <p:spPr>
          <a:xfrm>
            <a:off x="6583680" y="1783080"/>
            <a:ext cx="2011680" cy="320040"/>
          </a:xfrm>
          <a:prstGeom prst="roundRect">
            <a:avLst>
              <a:gd name="adj" fmla="val 22857"/>
            </a:avLst>
          </a:prstGeom>
          <a:solidFill>
            <a:srgbClr val="1E2638"/>
          </a:solidFill>
          <a:ln w="12700">
            <a:solidFill>
              <a:srgbClr val="8B5CF6"/>
            </a:solidFill>
            <a:prstDash val="solid"/>
          </a:ln>
        </p:spPr>
      </p:sp>
      <p:sp>
        <p:nvSpPr>
          <p:cNvPr id="11" name="Text 9"/>
          <p:cNvSpPr/>
          <p:nvPr/>
        </p:nvSpPr>
        <p:spPr>
          <a:xfrm>
            <a:off x="6583680" y="1783080"/>
            <a:ext cx="2011680" cy="320040"/>
          </a:xfrm>
          <a:prstGeom prst="rect">
            <a:avLst/>
          </a:prstGeom>
          <a:noFill/>
          <a:ln/>
        </p:spPr>
        <p:txBody>
          <a:bodyPr wrap="square" rtlCol="0" anchor="ctr"/>
          <a:lstStyle/>
          <a:p>
            <a:pPr algn="ctr" indent="0" marL="0">
              <a:buNone/>
            </a:pPr>
            <a:r>
              <a:rPr lang="en-US" sz="900" b="1" dirty="0">
                <a:solidFill>
                  <a:srgbClr val="8B5CF6"/>
                </a:solidFill>
                <a:latin typeface="Segoe UI" pitchFamily="34" charset="0"/>
                <a:ea typeface="Segoe UI" pitchFamily="34" charset="-122"/>
                <a:cs typeface="Segoe UI" pitchFamily="34" charset="-120"/>
              </a:rPr>
              <a:t>IMAGE / SCREENSHOT</a:t>
            </a:r>
            <a:endParaRPr lang="en-US" sz="900" dirty="0"/>
          </a:p>
        </p:txBody>
      </p:sp>
      <p:sp>
        <p:nvSpPr>
          <p:cNvPr id="12" name="Text 10"/>
          <p:cNvSpPr/>
          <p:nvPr/>
        </p:nvSpPr>
        <p:spPr>
          <a:xfrm>
            <a:off x="6583680" y="3063240"/>
            <a:ext cx="4480560" cy="73152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[INSERT 3-TIER ARCHITECTURE DIAGRAM]</a:t>
            </a:r>
            <a:endParaRPr lang="en-US" sz="1400" dirty="0"/>
          </a:p>
        </p:txBody>
      </p:sp>
      <p:sp>
        <p:nvSpPr>
          <p:cNvPr id="13" name="Text 11"/>
          <p:cNvSpPr/>
          <p:nvPr/>
        </p:nvSpPr>
        <p:spPr>
          <a:xfrm>
            <a:off x="6583680" y="3794760"/>
            <a:ext cx="4480560" cy="109728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Simple 3-tier diagram: User Interface (Web / Android) → Application Server (Node/Next.js) → Cloud Database (MongoDB Atlas).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731520" y="365760"/>
            <a:ext cx="10725912" cy="822960"/>
          </a:xfrm>
          <a:prstGeom prst="rect">
            <a:avLst/>
          </a:prstGeom>
          <a:solidFill>
            <a:srgbClr val="000000">
              <a:alpha val="0"/>
            </a:srgbClr>
          </a:solidFill>
          <a:ln w="12700">
            <a:solidFill>
              <a:srgbClr val="000000">
                <a:alpha val="0"/>
              </a:srgbClr>
            </a:solidFill>
            <a:prstDash val="solid"/>
          </a:ln>
        </p:spPr>
      </p:sp>
      <p:sp>
        <p:nvSpPr>
          <p:cNvPr id="3" name="Text 1"/>
          <p:cNvSpPr/>
          <p:nvPr/>
        </p:nvSpPr>
        <p:spPr>
          <a:xfrm>
            <a:off x="731520" y="411480"/>
            <a:ext cx="7315200" cy="228600"/>
          </a:xfrm>
          <a:prstGeom prst="rect">
            <a:avLst/>
          </a:prstGeom>
          <a:noFill/>
          <a:ln/>
        </p:spPr>
        <p:txBody>
          <a:bodyPr wrap="square" rtlCol="0" anchor="ctr"/>
          <a:lstStyle/>
          <a:p>
            <a:pPr indent="0" marL="0">
              <a:buNone/>
            </a:pPr>
            <a:r>
              <a:rPr lang="en-US" sz="1000" b="1" spc="150" kern="0" dirty="0">
                <a:solidFill>
                  <a:srgbClr val="6366F1"/>
                </a:solidFill>
                <a:latin typeface="Calibri" pitchFamily="34" charset="0"/>
                <a:ea typeface="Calibri" pitchFamily="34" charset="-122"/>
                <a:cs typeface="Calibri" pitchFamily="34" charset="-120"/>
              </a:rPr>
              <a:t>04 / CORE FEATURES</a:t>
            </a:r>
            <a:endParaRPr lang="en-US" sz="1000" dirty="0"/>
          </a:p>
        </p:txBody>
      </p:sp>
      <p:sp>
        <p:nvSpPr>
          <p:cNvPr id="4" name="Text 2"/>
          <p:cNvSpPr/>
          <p:nvPr/>
        </p:nvSpPr>
        <p:spPr>
          <a:xfrm>
            <a:off x="731520" y="658368"/>
            <a:ext cx="8686800" cy="45720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Module 1: Event Discovery &amp; Categorized Directory</a:t>
            </a:r>
            <a:endParaRPr lang="en-US" sz="2200" dirty="0"/>
          </a:p>
        </p:txBody>
      </p:sp>
      <p:sp>
        <p:nvSpPr>
          <p:cNvPr id="5" name="Text 3"/>
          <p:cNvSpPr/>
          <p:nvPr/>
        </p:nvSpPr>
        <p:spPr>
          <a:xfrm>
            <a:off x="10332720" y="502920"/>
            <a:ext cx="1097280" cy="320040"/>
          </a:xfrm>
          <a:prstGeom prst="rect">
            <a:avLst/>
          </a:prstGeom>
          <a:noFill/>
          <a:ln/>
        </p:spPr>
        <p:txBody>
          <a:bodyPr wrap="square" rtlCol="0" anchor="ctr"/>
          <a:lstStyle/>
          <a:p>
            <a:pPr algn="r" indent="0" marL="0">
              <a:buNone/>
            </a:pPr>
            <a:r>
              <a:rPr lang="en-US" sz="1100" b="1" dirty="0">
                <a:solidFill>
                  <a:srgbClr val="94A3B8"/>
                </a:solidFill>
                <a:latin typeface="Segoe UI" pitchFamily="34" charset="0"/>
                <a:ea typeface="Segoe UI" pitchFamily="34" charset="-122"/>
                <a:cs typeface="Segoe UI" pitchFamily="34" charset="-120"/>
              </a:rPr>
              <a:t>5 / 12</a:t>
            </a:r>
            <a:endParaRPr lang="en-US" sz="1100" dirty="0"/>
          </a:p>
        </p:txBody>
      </p:sp>
      <p:sp>
        <p:nvSpPr>
          <p:cNvPr id="6" name="Shape 4"/>
          <p:cNvSpPr/>
          <p:nvPr/>
        </p:nvSpPr>
        <p:spPr>
          <a:xfrm>
            <a:off x="731520" y="1143000"/>
            <a:ext cx="10725912" cy="0"/>
          </a:xfrm>
          <a:prstGeom prst="line">
            <a:avLst/>
          </a:prstGeom>
          <a:noFill/>
          <a:ln w="15240">
            <a:solidFill>
              <a:srgbClr val="232D42"/>
            </a:solidFill>
            <a:prstDash val="solid"/>
          </a:ln>
        </p:spPr>
      </p:sp>
      <p:sp>
        <p:nvSpPr>
          <p:cNvPr id="7" name="Shape 5"/>
          <p:cNvSpPr/>
          <p:nvPr/>
        </p:nvSpPr>
        <p:spPr>
          <a:xfrm>
            <a:off x="731520" y="1417320"/>
            <a:ext cx="5120640" cy="4754880"/>
          </a:xfrm>
          <a:prstGeom prst="roundRect">
            <a:avLst>
              <a:gd name="adj" fmla="val 2885"/>
            </a:avLst>
          </a:prstGeom>
          <a:solidFill>
            <a:srgbClr val="141A29"/>
          </a:solidFill>
          <a:ln w="12700">
            <a:solidFill>
              <a:srgbClr val="232D42"/>
            </a:solidFill>
            <a:prstDash val="solid"/>
          </a:ln>
        </p:spPr>
      </p:sp>
      <p:sp>
        <p:nvSpPr>
          <p:cNvPr id="8" name="Text 6"/>
          <p:cNvSpPr/>
          <p:nvPr/>
        </p:nvSpPr>
        <p:spPr>
          <a:xfrm>
            <a:off x="1005840" y="1600200"/>
            <a:ext cx="4572000" cy="4389120"/>
          </a:xfrm>
          <a:prstGeom prst="rect">
            <a:avLst/>
          </a:prstGeom>
          <a:noFill/>
          <a:ln/>
        </p:spPr>
        <p:txBody>
          <a:bodyPr wrap="square" rtlCol="0" anchor="ctr"/>
          <a:lstStyle/>
          <a:p>
            <a:pPr indent="0" marL="0">
              <a:lnSpc>
                <a:spcPts val="1500"/>
              </a:lnSpc>
              <a:buNone/>
            </a:pPr>
            <a:r>
              <a:rPr lang="en-US" sz="1150" b="1" dirty="0">
                <a:solidFill>
                  <a:srgbClr val="8B5CF6"/>
                </a:solidFill>
                <a:latin typeface="Calibri" pitchFamily="34" charset="0"/>
                <a:ea typeface="Calibri" pitchFamily="34" charset="-122"/>
                <a:cs typeface="Calibri" pitchFamily="34" charset="-120"/>
              </a:rPr>
              <a:t>• Multi-Category Academic Catalog: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Events categorized into Technical (Hackathons, Coding), Cultural (Fests, Music), Sports (Tournaments), and Academic Workshops.
</a:t>
            </a:r>
            <a:pPr indent="0" marL="0">
              <a:lnSpc>
                <a:spcPts val="1500"/>
              </a:lnSpc>
              <a:buNone/>
            </a:pPr>
            <a:r>
              <a:rPr lang="en-US" sz="1150" b="1" dirty="0">
                <a:solidFill>
                  <a:srgbClr val="8B5CF6"/>
                </a:solidFill>
                <a:latin typeface="Calibri" pitchFamily="34" charset="0"/>
                <a:ea typeface="Calibri" pitchFamily="34" charset="-122"/>
                <a:cs typeface="Calibri" pitchFamily="34" charset="-120"/>
              </a:rPr>
              <a:t>• Real-Time Fuzzy Search &amp; Filtering: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Students can instantly search by title, department, tags, or venue with dynamic status toggles (Upcoming, Ongoing, Completed).
</a:t>
            </a:r>
            <a:pPr indent="0" marL="0">
              <a:lnSpc>
                <a:spcPts val="1500"/>
              </a:lnSpc>
              <a:buNone/>
            </a:pPr>
            <a:r>
              <a:rPr lang="en-US" sz="1150" b="1" dirty="0">
                <a:solidFill>
                  <a:srgbClr val="8B5CF6"/>
                </a:solidFill>
                <a:latin typeface="Calibri" pitchFamily="34" charset="0"/>
                <a:ea typeface="Calibri" pitchFamily="34" charset="-122"/>
                <a:cs typeface="Calibri" pitchFamily="34" charset="-120"/>
              </a:rPr>
              <a:t>• Rich Event Detail View: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Each event showcases high-res banner media, detailed schedules, venue location, faculty coordinator contacts, and prerequisites.
</a:t>
            </a:r>
            <a:pPr indent="0" marL="0">
              <a:lnSpc>
                <a:spcPts val="1500"/>
              </a:lnSpc>
              <a:buNone/>
            </a:pPr>
            <a:r>
              <a:rPr lang="en-US" sz="1150" b="1" dirty="0">
                <a:solidFill>
                  <a:srgbClr val="8B5CF6"/>
                </a:solidFill>
                <a:latin typeface="Calibri" pitchFamily="34" charset="0"/>
                <a:ea typeface="Calibri" pitchFamily="34" charset="-122"/>
                <a:cs typeface="Calibri" pitchFamily="34" charset="-120"/>
              </a:rPr>
              <a:t>• 1-Click Viral Social Sharing: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Deep-linked sharing modal for WhatsApp, Telegram, LinkedIn, and X/Twitter with pre-formatted event titles and registration links.</a:t>
            </a:r>
            <a:endParaRPr lang="en-US" sz="1150" dirty="0"/>
          </a:p>
        </p:txBody>
      </p:sp>
      <p:sp>
        <p:nvSpPr>
          <p:cNvPr id="9" name="Shape 7"/>
          <p:cNvSpPr/>
          <p:nvPr/>
        </p:nvSpPr>
        <p:spPr>
          <a:xfrm>
            <a:off x="6217920" y="1417320"/>
            <a:ext cx="5212080" cy="4754880"/>
          </a:xfrm>
          <a:prstGeom prst="roundRect">
            <a:avLst>
              <a:gd name="adj" fmla="val 2885"/>
            </a:avLst>
          </a:prstGeom>
          <a:solidFill>
            <a:srgbClr val="141A29"/>
          </a:solidFill>
          <a:ln w="19050">
            <a:solidFill>
              <a:srgbClr val="6366F1"/>
            </a:solidFill>
            <a:prstDash val="dash"/>
          </a:ln>
        </p:spPr>
      </p:sp>
      <p:sp>
        <p:nvSpPr>
          <p:cNvPr id="10" name="Shape 8"/>
          <p:cNvSpPr/>
          <p:nvPr/>
        </p:nvSpPr>
        <p:spPr>
          <a:xfrm>
            <a:off x="6583680" y="1783080"/>
            <a:ext cx="2011680" cy="320040"/>
          </a:xfrm>
          <a:prstGeom prst="roundRect">
            <a:avLst>
              <a:gd name="adj" fmla="val 22857"/>
            </a:avLst>
          </a:prstGeom>
          <a:solidFill>
            <a:srgbClr val="1E2638"/>
          </a:solidFill>
          <a:ln w="12700">
            <a:solidFill>
              <a:srgbClr val="8B5CF6"/>
            </a:solidFill>
            <a:prstDash val="solid"/>
          </a:ln>
        </p:spPr>
      </p:sp>
      <p:sp>
        <p:nvSpPr>
          <p:cNvPr id="11" name="Text 9"/>
          <p:cNvSpPr/>
          <p:nvPr/>
        </p:nvSpPr>
        <p:spPr>
          <a:xfrm>
            <a:off x="6583680" y="1783080"/>
            <a:ext cx="2011680" cy="320040"/>
          </a:xfrm>
          <a:prstGeom prst="rect">
            <a:avLst/>
          </a:prstGeom>
          <a:noFill/>
          <a:ln/>
        </p:spPr>
        <p:txBody>
          <a:bodyPr wrap="square" rtlCol="0" anchor="ctr"/>
          <a:lstStyle/>
          <a:p>
            <a:pPr algn="ctr" indent="0" marL="0">
              <a:buNone/>
            </a:pPr>
            <a:r>
              <a:rPr lang="en-US" sz="900" b="1" dirty="0">
                <a:solidFill>
                  <a:srgbClr val="8B5CF6"/>
                </a:solidFill>
                <a:latin typeface="Segoe UI" pitchFamily="34" charset="0"/>
                <a:ea typeface="Segoe UI" pitchFamily="34" charset="-122"/>
                <a:cs typeface="Segoe UI" pitchFamily="34" charset="-120"/>
              </a:rPr>
              <a:t>IMAGE / SCREENSHOT</a:t>
            </a:r>
            <a:endParaRPr lang="en-US" sz="900" dirty="0"/>
          </a:p>
        </p:txBody>
      </p:sp>
      <p:sp>
        <p:nvSpPr>
          <p:cNvPr id="12" name="Text 10"/>
          <p:cNvSpPr/>
          <p:nvPr/>
        </p:nvSpPr>
        <p:spPr>
          <a:xfrm>
            <a:off x="6583680" y="3063240"/>
            <a:ext cx="4480560" cy="73152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[INSERT SCREENSHOT: /events]</a:t>
            </a:r>
            <a:endParaRPr lang="en-US" sz="1400" dirty="0"/>
          </a:p>
        </p:txBody>
      </p:sp>
      <p:sp>
        <p:nvSpPr>
          <p:cNvPr id="13" name="Text 11"/>
          <p:cNvSpPr/>
          <p:nvPr/>
        </p:nvSpPr>
        <p:spPr>
          <a:xfrm>
            <a:off x="6583680" y="3794760"/>
            <a:ext cx="4480560" cy="109728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Screenshot of the CampusPulse Event Discovery Catalog showing category filter pills, search bar, and colorful event cards.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731520" y="365760"/>
            <a:ext cx="10725912" cy="822960"/>
          </a:xfrm>
          <a:prstGeom prst="rect">
            <a:avLst/>
          </a:prstGeom>
          <a:solidFill>
            <a:srgbClr val="000000">
              <a:alpha val="0"/>
            </a:srgbClr>
          </a:solidFill>
          <a:ln w="12700">
            <a:solidFill>
              <a:srgbClr val="000000">
                <a:alpha val="0"/>
              </a:srgbClr>
            </a:solidFill>
            <a:prstDash val="solid"/>
          </a:ln>
        </p:spPr>
      </p:sp>
      <p:sp>
        <p:nvSpPr>
          <p:cNvPr id="3" name="Text 1"/>
          <p:cNvSpPr/>
          <p:nvPr/>
        </p:nvSpPr>
        <p:spPr>
          <a:xfrm>
            <a:off x="731520" y="411480"/>
            <a:ext cx="7315200" cy="228600"/>
          </a:xfrm>
          <a:prstGeom prst="rect">
            <a:avLst/>
          </a:prstGeom>
          <a:noFill/>
          <a:ln/>
        </p:spPr>
        <p:txBody>
          <a:bodyPr wrap="square" rtlCol="0" anchor="ctr"/>
          <a:lstStyle/>
          <a:p>
            <a:pPr indent="0" marL="0">
              <a:buNone/>
            </a:pPr>
            <a:r>
              <a:rPr lang="en-US" sz="1000" b="1" spc="150" kern="0" dirty="0">
                <a:solidFill>
                  <a:srgbClr val="6366F1"/>
                </a:solidFill>
                <a:latin typeface="Calibri" pitchFamily="34" charset="0"/>
                <a:ea typeface="Calibri" pitchFamily="34" charset="-122"/>
                <a:cs typeface="Calibri" pitchFamily="34" charset="-120"/>
              </a:rPr>
              <a:t>05 / CORE FEATURES</a:t>
            </a:r>
            <a:endParaRPr lang="en-US" sz="1000" dirty="0"/>
          </a:p>
        </p:txBody>
      </p:sp>
      <p:sp>
        <p:nvSpPr>
          <p:cNvPr id="4" name="Text 2"/>
          <p:cNvSpPr/>
          <p:nvPr/>
        </p:nvSpPr>
        <p:spPr>
          <a:xfrm>
            <a:off x="731520" y="658368"/>
            <a:ext cx="8686800" cy="45720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Module 2: Simple 1-Click Registration &amp; Capacity Control</a:t>
            </a:r>
            <a:endParaRPr lang="en-US" sz="2200" dirty="0"/>
          </a:p>
        </p:txBody>
      </p:sp>
      <p:sp>
        <p:nvSpPr>
          <p:cNvPr id="5" name="Text 3"/>
          <p:cNvSpPr/>
          <p:nvPr/>
        </p:nvSpPr>
        <p:spPr>
          <a:xfrm>
            <a:off x="10332720" y="502920"/>
            <a:ext cx="1097280" cy="320040"/>
          </a:xfrm>
          <a:prstGeom prst="rect">
            <a:avLst/>
          </a:prstGeom>
          <a:noFill/>
          <a:ln/>
        </p:spPr>
        <p:txBody>
          <a:bodyPr wrap="square" rtlCol="0" anchor="ctr"/>
          <a:lstStyle/>
          <a:p>
            <a:pPr algn="r" indent="0" marL="0">
              <a:buNone/>
            </a:pPr>
            <a:r>
              <a:rPr lang="en-US" sz="1100" b="1" dirty="0">
                <a:solidFill>
                  <a:srgbClr val="94A3B8"/>
                </a:solidFill>
                <a:latin typeface="Segoe UI" pitchFamily="34" charset="0"/>
                <a:ea typeface="Segoe UI" pitchFamily="34" charset="-122"/>
                <a:cs typeface="Segoe UI" pitchFamily="34" charset="-120"/>
              </a:rPr>
              <a:t>6 / 12</a:t>
            </a:r>
            <a:endParaRPr lang="en-US" sz="1100" dirty="0"/>
          </a:p>
        </p:txBody>
      </p:sp>
      <p:sp>
        <p:nvSpPr>
          <p:cNvPr id="6" name="Shape 4"/>
          <p:cNvSpPr/>
          <p:nvPr/>
        </p:nvSpPr>
        <p:spPr>
          <a:xfrm>
            <a:off x="731520" y="1143000"/>
            <a:ext cx="10725912" cy="0"/>
          </a:xfrm>
          <a:prstGeom prst="line">
            <a:avLst/>
          </a:prstGeom>
          <a:noFill/>
          <a:ln w="15240">
            <a:solidFill>
              <a:srgbClr val="232D42"/>
            </a:solidFill>
            <a:prstDash val="solid"/>
          </a:ln>
        </p:spPr>
      </p:sp>
      <p:sp>
        <p:nvSpPr>
          <p:cNvPr id="7" name="Shape 5"/>
          <p:cNvSpPr/>
          <p:nvPr/>
        </p:nvSpPr>
        <p:spPr>
          <a:xfrm>
            <a:off x="731520" y="1417320"/>
            <a:ext cx="5120640" cy="4754880"/>
          </a:xfrm>
          <a:prstGeom prst="roundRect">
            <a:avLst>
              <a:gd name="adj" fmla="val 2885"/>
            </a:avLst>
          </a:prstGeom>
          <a:solidFill>
            <a:srgbClr val="141A29"/>
          </a:solidFill>
          <a:ln w="12700">
            <a:solidFill>
              <a:srgbClr val="232D42"/>
            </a:solidFill>
            <a:prstDash val="solid"/>
          </a:ln>
        </p:spPr>
      </p:sp>
      <p:sp>
        <p:nvSpPr>
          <p:cNvPr id="8" name="Text 6"/>
          <p:cNvSpPr/>
          <p:nvPr/>
        </p:nvSpPr>
        <p:spPr>
          <a:xfrm>
            <a:off x="1005840" y="1600200"/>
            <a:ext cx="4572000" cy="4389120"/>
          </a:xfrm>
          <a:prstGeom prst="rect">
            <a:avLst/>
          </a:prstGeom>
          <a:noFill/>
          <a:ln/>
        </p:spPr>
        <p:txBody>
          <a:bodyPr wrap="square" rtlCol="0" anchor="ctr"/>
          <a:lstStyle/>
          <a:p>
            <a:pPr indent="0" marL="0">
              <a:lnSpc>
                <a:spcPts val="1500"/>
              </a:lnSpc>
              <a:buNone/>
            </a:pPr>
            <a:r>
              <a:rPr lang="en-US" sz="1150" b="1" dirty="0">
                <a:solidFill>
                  <a:srgbClr val="10B981"/>
                </a:solidFill>
                <a:latin typeface="Calibri" pitchFamily="34" charset="0"/>
                <a:ea typeface="Calibri" pitchFamily="34" charset="-122"/>
                <a:cs typeface="Calibri" pitchFamily="34" charset="-120"/>
              </a:rPr>
              <a:t>• Frictionless 1-Click Registration: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Logged-in students click 'Register for Event' and are instantly enrolled without filling repetitive personal details or manual forms.
</a:t>
            </a:r>
            <a:pPr indent="0" marL="0">
              <a:lnSpc>
                <a:spcPts val="1500"/>
              </a:lnSpc>
              <a:buNone/>
            </a:pPr>
            <a:r>
              <a:rPr lang="en-US" sz="1150" b="1" dirty="0">
                <a:solidFill>
                  <a:srgbClr val="10B981"/>
                </a:solidFill>
                <a:latin typeface="Calibri" pitchFamily="34" charset="0"/>
                <a:ea typeface="Calibri" pitchFamily="34" charset="-122"/>
                <a:cs typeface="Calibri" pitchFamily="34" charset="-120"/>
              </a:rPr>
              <a:t>• Atomic Capacity Lock (Zero Overbooking):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Database transactions atomically enforce seat limits (maxCapacity). As soon as capacity is filled, the button locks to 'Event Full'.
</a:t>
            </a:r>
            <a:pPr indent="0" marL="0">
              <a:lnSpc>
                <a:spcPts val="1500"/>
              </a:lnSpc>
              <a:buNone/>
            </a:pPr>
            <a:r>
              <a:rPr lang="en-US" sz="1150" b="1" dirty="0">
                <a:solidFill>
                  <a:srgbClr val="10B981"/>
                </a:solidFill>
                <a:latin typeface="Calibri" pitchFamily="34" charset="0"/>
                <a:ea typeface="Calibri" pitchFamily="34" charset="-122"/>
                <a:cs typeface="Calibri" pitchFamily="34" charset="-120"/>
              </a:rPr>
              <a:t>• Real-Time Headcount Progress Bar: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Visual progress bar showing live filled seats (e.g. '142 / 150 Seats Reserved') with dynamic color shifts as seats run low.
</a:t>
            </a:r>
            <a:pPr indent="0" marL="0">
              <a:lnSpc>
                <a:spcPts val="1500"/>
              </a:lnSpc>
              <a:buNone/>
            </a:pPr>
            <a:r>
              <a:rPr lang="en-US" sz="1150" b="1" dirty="0">
                <a:solidFill>
                  <a:srgbClr val="10B981"/>
                </a:solidFill>
                <a:latin typeface="Calibri" pitchFamily="34" charset="0"/>
                <a:ea typeface="Calibri" pitchFamily="34" charset="-122"/>
                <a:cs typeface="Calibri" pitchFamily="34" charset="-120"/>
              </a:rPr>
              <a:t>• Registration Details Card &amp; Cancellation: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Confirmed attendees view their name, email, seat status, and unique reference ID. Flexible 1-click cancellation immediately frees up seats for other students.</a:t>
            </a:r>
            <a:endParaRPr lang="en-US" sz="1150" dirty="0"/>
          </a:p>
        </p:txBody>
      </p:sp>
      <p:sp>
        <p:nvSpPr>
          <p:cNvPr id="9" name="Shape 7"/>
          <p:cNvSpPr/>
          <p:nvPr/>
        </p:nvSpPr>
        <p:spPr>
          <a:xfrm>
            <a:off x="6217920" y="1417320"/>
            <a:ext cx="5212080" cy="4754880"/>
          </a:xfrm>
          <a:prstGeom prst="roundRect">
            <a:avLst>
              <a:gd name="adj" fmla="val 2885"/>
            </a:avLst>
          </a:prstGeom>
          <a:solidFill>
            <a:srgbClr val="141A29"/>
          </a:solidFill>
          <a:ln w="19050">
            <a:solidFill>
              <a:srgbClr val="6366F1"/>
            </a:solidFill>
            <a:prstDash val="dash"/>
          </a:ln>
        </p:spPr>
      </p:sp>
      <p:sp>
        <p:nvSpPr>
          <p:cNvPr id="10" name="Shape 8"/>
          <p:cNvSpPr/>
          <p:nvPr/>
        </p:nvSpPr>
        <p:spPr>
          <a:xfrm>
            <a:off x="6583680" y="1783080"/>
            <a:ext cx="2011680" cy="320040"/>
          </a:xfrm>
          <a:prstGeom prst="roundRect">
            <a:avLst>
              <a:gd name="adj" fmla="val 22857"/>
            </a:avLst>
          </a:prstGeom>
          <a:solidFill>
            <a:srgbClr val="1E2638"/>
          </a:solidFill>
          <a:ln w="12700">
            <a:solidFill>
              <a:srgbClr val="8B5CF6"/>
            </a:solidFill>
            <a:prstDash val="solid"/>
          </a:ln>
        </p:spPr>
      </p:sp>
      <p:sp>
        <p:nvSpPr>
          <p:cNvPr id="11" name="Text 9"/>
          <p:cNvSpPr/>
          <p:nvPr/>
        </p:nvSpPr>
        <p:spPr>
          <a:xfrm>
            <a:off x="6583680" y="1783080"/>
            <a:ext cx="2011680" cy="320040"/>
          </a:xfrm>
          <a:prstGeom prst="rect">
            <a:avLst/>
          </a:prstGeom>
          <a:noFill/>
          <a:ln/>
        </p:spPr>
        <p:txBody>
          <a:bodyPr wrap="square" rtlCol="0" anchor="ctr"/>
          <a:lstStyle/>
          <a:p>
            <a:pPr algn="ctr" indent="0" marL="0">
              <a:buNone/>
            </a:pPr>
            <a:r>
              <a:rPr lang="en-US" sz="900" b="1" dirty="0">
                <a:solidFill>
                  <a:srgbClr val="8B5CF6"/>
                </a:solidFill>
                <a:latin typeface="Segoe UI" pitchFamily="34" charset="0"/>
                <a:ea typeface="Segoe UI" pitchFamily="34" charset="-122"/>
                <a:cs typeface="Segoe UI" pitchFamily="34" charset="-120"/>
              </a:rPr>
              <a:t>IMAGE / SCREENSHOT</a:t>
            </a:r>
            <a:endParaRPr lang="en-US" sz="900" dirty="0"/>
          </a:p>
        </p:txBody>
      </p:sp>
      <p:sp>
        <p:nvSpPr>
          <p:cNvPr id="12" name="Text 10"/>
          <p:cNvSpPr/>
          <p:nvPr/>
        </p:nvSpPr>
        <p:spPr>
          <a:xfrm>
            <a:off x="6583680" y="3063240"/>
            <a:ext cx="4480560" cy="73152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[INSERT SCREENSHOT: /events/[slug]]</a:t>
            </a:r>
            <a:endParaRPr lang="en-US" sz="1400" dirty="0"/>
          </a:p>
        </p:txBody>
      </p:sp>
      <p:sp>
        <p:nvSpPr>
          <p:cNvPr id="13" name="Text 11"/>
          <p:cNvSpPr/>
          <p:nvPr/>
        </p:nvSpPr>
        <p:spPr>
          <a:xfrm>
            <a:off x="6583680" y="3794760"/>
            <a:ext cx="4480560" cy="109728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Screenshot of the Event Detail Page showing the Registration Confirmed Card, Student Details, and the Capacity Progress Bar.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731520" y="365760"/>
            <a:ext cx="10725912" cy="822960"/>
          </a:xfrm>
          <a:prstGeom prst="rect">
            <a:avLst/>
          </a:prstGeom>
          <a:solidFill>
            <a:srgbClr val="000000">
              <a:alpha val="0"/>
            </a:srgbClr>
          </a:solidFill>
          <a:ln w="12700">
            <a:solidFill>
              <a:srgbClr val="000000">
                <a:alpha val="0"/>
              </a:srgbClr>
            </a:solidFill>
            <a:prstDash val="solid"/>
          </a:ln>
        </p:spPr>
      </p:sp>
      <p:sp>
        <p:nvSpPr>
          <p:cNvPr id="3" name="Text 1"/>
          <p:cNvSpPr/>
          <p:nvPr/>
        </p:nvSpPr>
        <p:spPr>
          <a:xfrm>
            <a:off x="731520" y="411480"/>
            <a:ext cx="7315200" cy="228600"/>
          </a:xfrm>
          <a:prstGeom prst="rect">
            <a:avLst/>
          </a:prstGeom>
          <a:noFill/>
          <a:ln/>
        </p:spPr>
        <p:txBody>
          <a:bodyPr wrap="square" rtlCol="0" anchor="ctr"/>
          <a:lstStyle/>
          <a:p>
            <a:pPr indent="0" marL="0">
              <a:buNone/>
            </a:pPr>
            <a:r>
              <a:rPr lang="en-US" sz="1000" b="1" spc="150" kern="0" dirty="0">
                <a:solidFill>
                  <a:srgbClr val="6366F1"/>
                </a:solidFill>
                <a:latin typeface="Calibri" pitchFamily="34" charset="0"/>
                <a:ea typeface="Calibri" pitchFamily="34" charset="-122"/>
                <a:cs typeface="Calibri" pitchFamily="34" charset="-120"/>
              </a:rPr>
              <a:t>06 / IN-SESSION ENGAGEMENT</a:t>
            </a:r>
            <a:endParaRPr lang="en-US" sz="1000" dirty="0"/>
          </a:p>
        </p:txBody>
      </p:sp>
      <p:sp>
        <p:nvSpPr>
          <p:cNvPr id="4" name="Text 2"/>
          <p:cNvSpPr/>
          <p:nvPr/>
        </p:nvSpPr>
        <p:spPr>
          <a:xfrm>
            <a:off x="731520" y="658368"/>
            <a:ext cx="8686800" cy="45720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Module 3: Live Interactive Q&amp;A &amp; Upvoting Forum</a:t>
            </a:r>
            <a:endParaRPr lang="en-US" sz="2200" dirty="0"/>
          </a:p>
        </p:txBody>
      </p:sp>
      <p:sp>
        <p:nvSpPr>
          <p:cNvPr id="5" name="Text 3"/>
          <p:cNvSpPr/>
          <p:nvPr/>
        </p:nvSpPr>
        <p:spPr>
          <a:xfrm>
            <a:off x="10332720" y="502920"/>
            <a:ext cx="1097280" cy="320040"/>
          </a:xfrm>
          <a:prstGeom prst="rect">
            <a:avLst/>
          </a:prstGeom>
          <a:noFill/>
          <a:ln/>
        </p:spPr>
        <p:txBody>
          <a:bodyPr wrap="square" rtlCol="0" anchor="ctr"/>
          <a:lstStyle/>
          <a:p>
            <a:pPr algn="r" indent="0" marL="0">
              <a:buNone/>
            </a:pPr>
            <a:r>
              <a:rPr lang="en-US" sz="1100" b="1" dirty="0">
                <a:solidFill>
                  <a:srgbClr val="94A3B8"/>
                </a:solidFill>
                <a:latin typeface="Segoe UI" pitchFamily="34" charset="0"/>
                <a:ea typeface="Segoe UI" pitchFamily="34" charset="-122"/>
                <a:cs typeface="Segoe UI" pitchFamily="34" charset="-120"/>
              </a:rPr>
              <a:t>7 / 12</a:t>
            </a:r>
            <a:endParaRPr lang="en-US" sz="1100" dirty="0"/>
          </a:p>
        </p:txBody>
      </p:sp>
      <p:sp>
        <p:nvSpPr>
          <p:cNvPr id="6" name="Shape 4"/>
          <p:cNvSpPr/>
          <p:nvPr/>
        </p:nvSpPr>
        <p:spPr>
          <a:xfrm>
            <a:off x="731520" y="1143000"/>
            <a:ext cx="10725912" cy="0"/>
          </a:xfrm>
          <a:prstGeom prst="line">
            <a:avLst/>
          </a:prstGeom>
          <a:noFill/>
          <a:ln w="15240">
            <a:solidFill>
              <a:srgbClr val="232D42"/>
            </a:solidFill>
            <a:prstDash val="solid"/>
          </a:ln>
        </p:spPr>
      </p:sp>
      <p:sp>
        <p:nvSpPr>
          <p:cNvPr id="7" name="Shape 5"/>
          <p:cNvSpPr/>
          <p:nvPr/>
        </p:nvSpPr>
        <p:spPr>
          <a:xfrm>
            <a:off x="731520" y="1417320"/>
            <a:ext cx="5120640" cy="4754880"/>
          </a:xfrm>
          <a:prstGeom prst="roundRect">
            <a:avLst>
              <a:gd name="adj" fmla="val 2885"/>
            </a:avLst>
          </a:prstGeom>
          <a:solidFill>
            <a:srgbClr val="141A29"/>
          </a:solidFill>
          <a:ln w="12700">
            <a:solidFill>
              <a:srgbClr val="232D42"/>
            </a:solidFill>
            <a:prstDash val="solid"/>
          </a:ln>
        </p:spPr>
      </p:sp>
      <p:sp>
        <p:nvSpPr>
          <p:cNvPr id="8" name="Text 6"/>
          <p:cNvSpPr/>
          <p:nvPr/>
        </p:nvSpPr>
        <p:spPr>
          <a:xfrm>
            <a:off x="1005840" y="1600200"/>
            <a:ext cx="4572000" cy="4389120"/>
          </a:xfrm>
          <a:prstGeom prst="rect">
            <a:avLst/>
          </a:prstGeom>
          <a:noFill/>
          <a:ln/>
        </p:spPr>
        <p:txBody>
          <a:bodyPr wrap="square" rtlCol="0" anchor="ctr"/>
          <a:lstStyle/>
          <a:p>
            <a:pPr indent="0" marL="0">
              <a:lnSpc>
                <a:spcPts val="1500"/>
              </a:lnSpc>
              <a:buNone/>
            </a:pPr>
            <a:r>
              <a:rPr lang="en-US" sz="1150" b="1" dirty="0">
                <a:solidFill>
                  <a:srgbClr val="6366F1"/>
                </a:solidFill>
                <a:latin typeface="Calibri" pitchFamily="34" charset="0"/>
                <a:ea typeface="Calibri" pitchFamily="34" charset="-122"/>
                <a:cs typeface="Calibri" pitchFamily="34" charset="-120"/>
              </a:rPr>
              <a:t>• In-Session Student Queries: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During live seminars, hackathons, and guest lectures, attendees post questions from their laptops or phones without interrupting the speaker.
</a:t>
            </a:r>
            <a:pPr indent="0" marL="0">
              <a:lnSpc>
                <a:spcPts val="1500"/>
              </a:lnSpc>
              <a:buNone/>
            </a:pPr>
            <a:r>
              <a:rPr lang="en-US" sz="1150" b="1" dirty="0">
                <a:solidFill>
                  <a:srgbClr val="6366F1"/>
                </a:solidFill>
                <a:latin typeface="Calibri" pitchFamily="34" charset="0"/>
                <a:ea typeface="Calibri" pitchFamily="34" charset="-122"/>
                <a:cs typeface="Calibri" pitchFamily="34" charset="-120"/>
              </a:rPr>
              <a:t>• Atomic Deduplicated Upvoting: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Students upvote questions they care about. MongoDB $addToSet and $pull operations strictly ensure one upvote per student per question.
</a:t>
            </a:r>
            <a:pPr indent="0" marL="0">
              <a:lnSpc>
                <a:spcPts val="1500"/>
              </a:lnSpc>
              <a:buNone/>
            </a:pPr>
            <a:r>
              <a:rPr lang="en-US" sz="1150" b="1" dirty="0">
                <a:solidFill>
                  <a:srgbClr val="6366F1"/>
                </a:solidFill>
                <a:latin typeface="Calibri" pitchFamily="34" charset="0"/>
                <a:ea typeface="Calibri" pitchFamily="34" charset="-122"/>
                <a:cs typeface="Calibri" pitchFamily="34" charset="-120"/>
              </a:rPr>
              <a:t>• Popularity Ranking Engine: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Questions are dynamically sorted by upvote count, ensuring the most urgent student queries naturally rise to the coordinator's screen.
</a:t>
            </a:r>
            <a:pPr indent="0" marL="0">
              <a:lnSpc>
                <a:spcPts val="1500"/>
              </a:lnSpc>
              <a:buNone/>
            </a:pPr>
            <a:r>
              <a:rPr lang="en-US" sz="1150" b="1" dirty="0">
                <a:solidFill>
                  <a:srgbClr val="6366F1"/>
                </a:solidFill>
                <a:latin typeface="Calibri" pitchFamily="34" charset="0"/>
                <a:ea typeface="Calibri" pitchFamily="34" charset="-122"/>
                <a:cs typeface="Calibri" pitchFamily="34" charset="-120"/>
              </a:rPr>
              <a:t>• Organizer Pinning &amp; Verified Replies: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Event coordinators and professors can pin important announcements (isPinned: true) and post official verified answers.</a:t>
            </a:r>
            <a:endParaRPr lang="en-US" sz="1150" dirty="0"/>
          </a:p>
        </p:txBody>
      </p:sp>
      <p:sp>
        <p:nvSpPr>
          <p:cNvPr id="9" name="Shape 7"/>
          <p:cNvSpPr/>
          <p:nvPr/>
        </p:nvSpPr>
        <p:spPr>
          <a:xfrm>
            <a:off x="6217920" y="1417320"/>
            <a:ext cx="5212080" cy="4754880"/>
          </a:xfrm>
          <a:prstGeom prst="roundRect">
            <a:avLst>
              <a:gd name="adj" fmla="val 2885"/>
            </a:avLst>
          </a:prstGeom>
          <a:solidFill>
            <a:srgbClr val="141A29"/>
          </a:solidFill>
          <a:ln w="19050">
            <a:solidFill>
              <a:srgbClr val="6366F1"/>
            </a:solidFill>
            <a:prstDash val="dash"/>
          </a:ln>
        </p:spPr>
      </p:sp>
      <p:sp>
        <p:nvSpPr>
          <p:cNvPr id="10" name="Shape 8"/>
          <p:cNvSpPr/>
          <p:nvPr/>
        </p:nvSpPr>
        <p:spPr>
          <a:xfrm>
            <a:off x="6583680" y="1783080"/>
            <a:ext cx="2011680" cy="320040"/>
          </a:xfrm>
          <a:prstGeom prst="roundRect">
            <a:avLst>
              <a:gd name="adj" fmla="val 22857"/>
            </a:avLst>
          </a:prstGeom>
          <a:solidFill>
            <a:srgbClr val="1E2638"/>
          </a:solidFill>
          <a:ln w="12700">
            <a:solidFill>
              <a:srgbClr val="8B5CF6"/>
            </a:solidFill>
            <a:prstDash val="solid"/>
          </a:ln>
        </p:spPr>
      </p:sp>
      <p:sp>
        <p:nvSpPr>
          <p:cNvPr id="11" name="Text 9"/>
          <p:cNvSpPr/>
          <p:nvPr/>
        </p:nvSpPr>
        <p:spPr>
          <a:xfrm>
            <a:off x="6583680" y="1783080"/>
            <a:ext cx="2011680" cy="320040"/>
          </a:xfrm>
          <a:prstGeom prst="rect">
            <a:avLst/>
          </a:prstGeom>
          <a:noFill/>
          <a:ln/>
        </p:spPr>
        <p:txBody>
          <a:bodyPr wrap="square" rtlCol="0" anchor="ctr"/>
          <a:lstStyle/>
          <a:p>
            <a:pPr algn="ctr" indent="0" marL="0">
              <a:buNone/>
            </a:pPr>
            <a:r>
              <a:rPr lang="en-US" sz="900" b="1" dirty="0">
                <a:solidFill>
                  <a:srgbClr val="8B5CF6"/>
                </a:solidFill>
                <a:latin typeface="Segoe UI" pitchFamily="34" charset="0"/>
                <a:ea typeface="Segoe UI" pitchFamily="34" charset="-122"/>
                <a:cs typeface="Segoe UI" pitchFamily="34" charset="-120"/>
              </a:rPr>
              <a:t>IMAGE / SCREENSHOT</a:t>
            </a:r>
            <a:endParaRPr lang="en-US" sz="900" dirty="0"/>
          </a:p>
        </p:txBody>
      </p:sp>
      <p:sp>
        <p:nvSpPr>
          <p:cNvPr id="12" name="Text 10"/>
          <p:cNvSpPr/>
          <p:nvPr/>
        </p:nvSpPr>
        <p:spPr>
          <a:xfrm>
            <a:off x="6583680" y="3063240"/>
            <a:ext cx="4480560" cy="73152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[INSERT SCREENSHOT: /portal/qna]</a:t>
            </a:r>
            <a:endParaRPr lang="en-US" sz="1400" dirty="0"/>
          </a:p>
        </p:txBody>
      </p:sp>
      <p:sp>
        <p:nvSpPr>
          <p:cNvPr id="13" name="Text 11"/>
          <p:cNvSpPr/>
          <p:nvPr/>
        </p:nvSpPr>
        <p:spPr>
          <a:xfrm>
            <a:off x="6583680" y="3794760"/>
            <a:ext cx="4480560" cy="109728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Screenshot of the Live Q&amp;A forum showing student questions, upvote counter buttons, and an organizer's pinned answer badge.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731520" y="365760"/>
            <a:ext cx="10725912" cy="822960"/>
          </a:xfrm>
          <a:prstGeom prst="rect">
            <a:avLst/>
          </a:prstGeom>
          <a:solidFill>
            <a:srgbClr val="000000">
              <a:alpha val="0"/>
            </a:srgbClr>
          </a:solidFill>
          <a:ln w="12700">
            <a:solidFill>
              <a:srgbClr val="000000">
                <a:alpha val="0"/>
              </a:srgbClr>
            </a:solidFill>
            <a:prstDash val="solid"/>
          </a:ln>
        </p:spPr>
      </p:sp>
      <p:sp>
        <p:nvSpPr>
          <p:cNvPr id="3" name="Text 1"/>
          <p:cNvSpPr/>
          <p:nvPr/>
        </p:nvSpPr>
        <p:spPr>
          <a:xfrm>
            <a:off x="731520" y="411480"/>
            <a:ext cx="7315200" cy="228600"/>
          </a:xfrm>
          <a:prstGeom prst="rect">
            <a:avLst/>
          </a:prstGeom>
          <a:noFill/>
          <a:ln/>
        </p:spPr>
        <p:txBody>
          <a:bodyPr wrap="square" rtlCol="0" anchor="ctr"/>
          <a:lstStyle/>
          <a:p>
            <a:pPr indent="0" marL="0">
              <a:buNone/>
            </a:pPr>
            <a:r>
              <a:rPr lang="en-US" sz="1000" b="1" spc="150" kern="0" dirty="0">
                <a:solidFill>
                  <a:srgbClr val="6366F1"/>
                </a:solidFill>
                <a:latin typeface="Calibri" pitchFamily="34" charset="0"/>
                <a:ea typeface="Calibri" pitchFamily="34" charset="-122"/>
                <a:cs typeface="Calibri" pitchFamily="34" charset="-120"/>
              </a:rPr>
              <a:t>07 / INSTITUTIONAL QUALITY</a:t>
            </a:r>
            <a:endParaRPr lang="en-US" sz="1000" dirty="0"/>
          </a:p>
        </p:txBody>
      </p:sp>
      <p:sp>
        <p:nvSpPr>
          <p:cNvPr id="4" name="Text 2"/>
          <p:cNvSpPr/>
          <p:nvPr/>
        </p:nvSpPr>
        <p:spPr>
          <a:xfrm>
            <a:off x="731520" y="658368"/>
            <a:ext cx="8686800" cy="45720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Module 4: Dynamic Feedback &amp; NPS Survey Analytics</a:t>
            </a:r>
            <a:endParaRPr lang="en-US" sz="2200" dirty="0"/>
          </a:p>
        </p:txBody>
      </p:sp>
      <p:sp>
        <p:nvSpPr>
          <p:cNvPr id="5" name="Text 3"/>
          <p:cNvSpPr/>
          <p:nvPr/>
        </p:nvSpPr>
        <p:spPr>
          <a:xfrm>
            <a:off x="10332720" y="502920"/>
            <a:ext cx="1097280" cy="320040"/>
          </a:xfrm>
          <a:prstGeom prst="rect">
            <a:avLst/>
          </a:prstGeom>
          <a:noFill/>
          <a:ln/>
        </p:spPr>
        <p:txBody>
          <a:bodyPr wrap="square" rtlCol="0" anchor="ctr"/>
          <a:lstStyle/>
          <a:p>
            <a:pPr algn="r" indent="0" marL="0">
              <a:buNone/>
            </a:pPr>
            <a:r>
              <a:rPr lang="en-US" sz="1100" b="1" dirty="0">
                <a:solidFill>
                  <a:srgbClr val="94A3B8"/>
                </a:solidFill>
                <a:latin typeface="Segoe UI" pitchFamily="34" charset="0"/>
                <a:ea typeface="Segoe UI" pitchFamily="34" charset="-122"/>
                <a:cs typeface="Segoe UI" pitchFamily="34" charset="-120"/>
              </a:rPr>
              <a:t>8 / 12</a:t>
            </a:r>
            <a:endParaRPr lang="en-US" sz="1100" dirty="0"/>
          </a:p>
        </p:txBody>
      </p:sp>
      <p:sp>
        <p:nvSpPr>
          <p:cNvPr id="6" name="Shape 4"/>
          <p:cNvSpPr/>
          <p:nvPr/>
        </p:nvSpPr>
        <p:spPr>
          <a:xfrm>
            <a:off x="731520" y="1143000"/>
            <a:ext cx="10725912" cy="0"/>
          </a:xfrm>
          <a:prstGeom prst="line">
            <a:avLst/>
          </a:prstGeom>
          <a:noFill/>
          <a:ln w="15240">
            <a:solidFill>
              <a:srgbClr val="232D42"/>
            </a:solidFill>
            <a:prstDash val="solid"/>
          </a:ln>
        </p:spPr>
      </p:sp>
      <p:sp>
        <p:nvSpPr>
          <p:cNvPr id="7" name="Shape 5"/>
          <p:cNvSpPr/>
          <p:nvPr/>
        </p:nvSpPr>
        <p:spPr>
          <a:xfrm>
            <a:off x="731520" y="1417320"/>
            <a:ext cx="5120640" cy="4754880"/>
          </a:xfrm>
          <a:prstGeom prst="roundRect">
            <a:avLst>
              <a:gd name="adj" fmla="val 2885"/>
            </a:avLst>
          </a:prstGeom>
          <a:solidFill>
            <a:srgbClr val="141A29"/>
          </a:solidFill>
          <a:ln w="12700">
            <a:solidFill>
              <a:srgbClr val="232D42"/>
            </a:solidFill>
            <a:prstDash val="solid"/>
          </a:ln>
        </p:spPr>
      </p:sp>
      <p:sp>
        <p:nvSpPr>
          <p:cNvPr id="8" name="Text 6"/>
          <p:cNvSpPr/>
          <p:nvPr/>
        </p:nvSpPr>
        <p:spPr>
          <a:xfrm>
            <a:off x="1005840" y="1600200"/>
            <a:ext cx="4572000" cy="4389120"/>
          </a:xfrm>
          <a:prstGeom prst="rect">
            <a:avLst/>
          </a:prstGeom>
          <a:noFill/>
          <a:ln/>
        </p:spPr>
        <p:txBody>
          <a:bodyPr wrap="square" rtlCol="0" anchor="ctr"/>
          <a:lstStyle/>
          <a:p>
            <a:pPr indent="0" marL="0">
              <a:lnSpc>
                <a:spcPts val="1500"/>
              </a:lnSpc>
              <a:buNone/>
            </a:pPr>
            <a:r>
              <a:rPr lang="en-US" sz="1150" b="1" dirty="0">
                <a:solidFill>
                  <a:srgbClr val="8B5CF6"/>
                </a:solidFill>
                <a:latin typeface="Calibri" pitchFamily="34" charset="0"/>
                <a:ea typeface="Calibri" pitchFamily="34" charset="-122"/>
                <a:cs typeface="Calibri" pitchFamily="34" charset="-120"/>
              </a:rPr>
              <a:t>• Google-Forms-Style Dynamic Builder: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Coordinators can create custom post-event feedback forms with Star Ratings (1-5), Multiple Choice questions, and Open Text feedback.
</a:t>
            </a:r>
            <a:pPr indent="0" marL="0">
              <a:lnSpc>
                <a:spcPts val="1500"/>
              </a:lnSpc>
              <a:buNone/>
            </a:pPr>
            <a:r>
              <a:rPr lang="en-US" sz="1150" b="1" dirty="0">
                <a:solidFill>
                  <a:srgbClr val="8B5CF6"/>
                </a:solidFill>
                <a:latin typeface="Calibri" pitchFamily="34" charset="0"/>
                <a:ea typeface="Calibri" pitchFamily="34" charset="-122"/>
                <a:cs typeface="Calibri" pitchFamily="34" charset="-120"/>
              </a:rPr>
              <a:t>• Automated Net Promoter Score (NPS):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The platform automatically aggregates ratings to calculate event NPS (Promoters vs Detractors) and overall average satisfaction scores.
</a:t>
            </a:r>
            <a:pPr indent="0" marL="0">
              <a:lnSpc>
                <a:spcPts val="1500"/>
              </a:lnSpc>
              <a:buNone/>
            </a:pPr>
            <a:r>
              <a:rPr lang="en-US" sz="1150" b="1" dirty="0">
                <a:solidFill>
                  <a:srgbClr val="8B5CF6"/>
                </a:solidFill>
                <a:latin typeface="Calibri" pitchFamily="34" charset="0"/>
                <a:ea typeface="Calibri" pitchFamily="34" charset="-122"/>
                <a:cs typeface="Calibri" pitchFamily="34" charset="-120"/>
              </a:rPr>
              <a:t>• Student Anonymity Option: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Students can choose to submit verified or anonymous feedback, encouraging honest qualitative critique without fear.
</a:t>
            </a:r>
            <a:pPr indent="0" marL="0">
              <a:lnSpc>
                <a:spcPts val="1500"/>
              </a:lnSpc>
              <a:buNone/>
            </a:pPr>
            <a:r>
              <a:rPr lang="en-US" sz="1150" b="1" dirty="0">
                <a:solidFill>
                  <a:srgbClr val="8B5CF6"/>
                </a:solidFill>
                <a:latin typeface="Calibri" pitchFamily="34" charset="0"/>
                <a:ea typeface="Calibri" pitchFamily="34" charset="-122"/>
                <a:cs typeface="Calibri" pitchFamily="34" charset="-120"/>
              </a:rPr>
              <a:t>• Response Analytics &amp; CSV Export: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Real-time visualization of participant sentiment breakdowns, attendance-to-response conversion rates, and exportable tables.</a:t>
            </a:r>
            <a:endParaRPr lang="en-US" sz="1150" dirty="0"/>
          </a:p>
        </p:txBody>
      </p:sp>
      <p:sp>
        <p:nvSpPr>
          <p:cNvPr id="9" name="Shape 7"/>
          <p:cNvSpPr/>
          <p:nvPr/>
        </p:nvSpPr>
        <p:spPr>
          <a:xfrm>
            <a:off x="6217920" y="1417320"/>
            <a:ext cx="5212080" cy="4754880"/>
          </a:xfrm>
          <a:prstGeom prst="roundRect">
            <a:avLst>
              <a:gd name="adj" fmla="val 2885"/>
            </a:avLst>
          </a:prstGeom>
          <a:solidFill>
            <a:srgbClr val="141A29"/>
          </a:solidFill>
          <a:ln w="19050">
            <a:solidFill>
              <a:srgbClr val="6366F1"/>
            </a:solidFill>
            <a:prstDash val="dash"/>
          </a:ln>
        </p:spPr>
      </p:sp>
      <p:sp>
        <p:nvSpPr>
          <p:cNvPr id="10" name="Shape 8"/>
          <p:cNvSpPr/>
          <p:nvPr/>
        </p:nvSpPr>
        <p:spPr>
          <a:xfrm>
            <a:off x="6583680" y="1783080"/>
            <a:ext cx="2011680" cy="320040"/>
          </a:xfrm>
          <a:prstGeom prst="roundRect">
            <a:avLst>
              <a:gd name="adj" fmla="val 22857"/>
            </a:avLst>
          </a:prstGeom>
          <a:solidFill>
            <a:srgbClr val="1E2638"/>
          </a:solidFill>
          <a:ln w="12700">
            <a:solidFill>
              <a:srgbClr val="8B5CF6"/>
            </a:solidFill>
            <a:prstDash val="solid"/>
          </a:ln>
        </p:spPr>
      </p:sp>
      <p:sp>
        <p:nvSpPr>
          <p:cNvPr id="11" name="Text 9"/>
          <p:cNvSpPr/>
          <p:nvPr/>
        </p:nvSpPr>
        <p:spPr>
          <a:xfrm>
            <a:off x="6583680" y="1783080"/>
            <a:ext cx="2011680" cy="320040"/>
          </a:xfrm>
          <a:prstGeom prst="rect">
            <a:avLst/>
          </a:prstGeom>
          <a:noFill/>
          <a:ln/>
        </p:spPr>
        <p:txBody>
          <a:bodyPr wrap="square" rtlCol="0" anchor="ctr"/>
          <a:lstStyle/>
          <a:p>
            <a:pPr algn="ctr" indent="0" marL="0">
              <a:buNone/>
            </a:pPr>
            <a:r>
              <a:rPr lang="en-US" sz="900" b="1" dirty="0">
                <a:solidFill>
                  <a:srgbClr val="8B5CF6"/>
                </a:solidFill>
                <a:latin typeface="Segoe UI" pitchFamily="34" charset="0"/>
                <a:ea typeface="Segoe UI" pitchFamily="34" charset="-122"/>
                <a:cs typeface="Segoe UI" pitchFamily="34" charset="-120"/>
              </a:rPr>
              <a:t>IMAGE / SCREENSHOT</a:t>
            </a:r>
            <a:endParaRPr lang="en-US" sz="900" dirty="0"/>
          </a:p>
        </p:txBody>
      </p:sp>
      <p:sp>
        <p:nvSpPr>
          <p:cNvPr id="12" name="Text 10"/>
          <p:cNvSpPr/>
          <p:nvPr/>
        </p:nvSpPr>
        <p:spPr>
          <a:xfrm>
            <a:off x="6583680" y="3063240"/>
            <a:ext cx="4480560" cy="73152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[INSERT SCREENSHOT: Feedback Analytics]</a:t>
            </a:r>
            <a:endParaRPr lang="en-US" sz="1400" dirty="0"/>
          </a:p>
        </p:txBody>
      </p:sp>
      <p:sp>
        <p:nvSpPr>
          <p:cNvPr id="13" name="Text 11"/>
          <p:cNvSpPr/>
          <p:nvPr/>
        </p:nvSpPr>
        <p:spPr>
          <a:xfrm>
            <a:off x="6583680" y="3794760"/>
            <a:ext cx="4480560" cy="109728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Screenshot of the student feedback survey form alongside the admin sentiment analytics bar chart and star rating distribution.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731520" y="365760"/>
            <a:ext cx="10725912" cy="822960"/>
          </a:xfrm>
          <a:prstGeom prst="rect">
            <a:avLst/>
          </a:prstGeom>
          <a:solidFill>
            <a:srgbClr val="000000">
              <a:alpha val="0"/>
            </a:srgbClr>
          </a:solidFill>
          <a:ln w="12700">
            <a:solidFill>
              <a:srgbClr val="000000">
                <a:alpha val="0"/>
              </a:srgbClr>
            </a:solidFill>
            <a:prstDash val="solid"/>
          </a:ln>
        </p:spPr>
      </p:sp>
      <p:sp>
        <p:nvSpPr>
          <p:cNvPr id="3" name="Text 1"/>
          <p:cNvSpPr/>
          <p:nvPr/>
        </p:nvSpPr>
        <p:spPr>
          <a:xfrm>
            <a:off x="731520" y="411480"/>
            <a:ext cx="7315200" cy="228600"/>
          </a:xfrm>
          <a:prstGeom prst="rect">
            <a:avLst/>
          </a:prstGeom>
          <a:noFill/>
          <a:ln/>
        </p:spPr>
        <p:txBody>
          <a:bodyPr wrap="square" rtlCol="0" anchor="ctr"/>
          <a:lstStyle/>
          <a:p>
            <a:pPr indent="0" marL="0">
              <a:buNone/>
            </a:pPr>
            <a:r>
              <a:rPr lang="en-US" sz="1000" b="1" spc="150" kern="0" dirty="0">
                <a:solidFill>
                  <a:srgbClr val="6366F1"/>
                </a:solidFill>
                <a:latin typeface="Calibri" pitchFamily="34" charset="0"/>
                <a:ea typeface="Calibri" pitchFamily="34" charset="-122"/>
                <a:cs typeface="Calibri" pitchFamily="34" charset="-120"/>
              </a:rPr>
              <a:t>08 / ADMINISTRATIVE TOOLS</a:t>
            </a:r>
            <a:endParaRPr lang="en-US" sz="1000" dirty="0"/>
          </a:p>
        </p:txBody>
      </p:sp>
      <p:sp>
        <p:nvSpPr>
          <p:cNvPr id="4" name="Text 2"/>
          <p:cNvSpPr/>
          <p:nvPr/>
        </p:nvSpPr>
        <p:spPr>
          <a:xfrm>
            <a:off x="731520" y="658368"/>
            <a:ext cx="8686800" cy="45720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Module 5: Media Vault &amp; Executive Accreditation Reports</a:t>
            </a:r>
            <a:endParaRPr lang="en-US" sz="2200" dirty="0"/>
          </a:p>
        </p:txBody>
      </p:sp>
      <p:sp>
        <p:nvSpPr>
          <p:cNvPr id="5" name="Text 3"/>
          <p:cNvSpPr/>
          <p:nvPr/>
        </p:nvSpPr>
        <p:spPr>
          <a:xfrm>
            <a:off x="10332720" y="502920"/>
            <a:ext cx="1097280" cy="320040"/>
          </a:xfrm>
          <a:prstGeom prst="rect">
            <a:avLst/>
          </a:prstGeom>
          <a:noFill/>
          <a:ln/>
        </p:spPr>
        <p:txBody>
          <a:bodyPr wrap="square" rtlCol="0" anchor="ctr"/>
          <a:lstStyle/>
          <a:p>
            <a:pPr algn="r" indent="0" marL="0">
              <a:buNone/>
            </a:pPr>
            <a:r>
              <a:rPr lang="en-US" sz="1100" b="1" dirty="0">
                <a:solidFill>
                  <a:srgbClr val="94A3B8"/>
                </a:solidFill>
                <a:latin typeface="Segoe UI" pitchFamily="34" charset="0"/>
                <a:ea typeface="Segoe UI" pitchFamily="34" charset="-122"/>
                <a:cs typeface="Segoe UI" pitchFamily="34" charset="-120"/>
              </a:rPr>
              <a:t>9 / 12</a:t>
            </a:r>
            <a:endParaRPr lang="en-US" sz="1100" dirty="0"/>
          </a:p>
        </p:txBody>
      </p:sp>
      <p:sp>
        <p:nvSpPr>
          <p:cNvPr id="6" name="Shape 4"/>
          <p:cNvSpPr/>
          <p:nvPr/>
        </p:nvSpPr>
        <p:spPr>
          <a:xfrm>
            <a:off x="731520" y="1143000"/>
            <a:ext cx="10725912" cy="0"/>
          </a:xfrm>
          <a:prstGeom prst="line">
            <a:avLst/>
          </a:prstGeom>
          <a:noFill/>
          <a:ln w="15240">
            <a:solidFill>
              <a:srgbClr val="232D42"/>
            </a:solidFill>
            <a:prstDash val="solid"/>
          </a:ln>
        </p:spPr>
      </p:sp>
      <p:sp>
        <p:nvSpPr>
          <p:cNvPr id="7" name="Shape 5"/>
          <p:cNvSpPr/>
          <p:nvPr/>
        </p:nvSpPr>
        <p:spPr>
          <a:xfrm>
            <a:off x="731520" y="1417320"/>
            <a:ext cx="5120640" cy="4754880"/>
          </a:xfrm>
          <a:prstGeom prst="roundRect">
            <a:avLst>
              <a:gd name="adj" fmla="val 2885"/>
            </a:avLst>
          </a:prstGeom>
          <a:solidFill>
            <a:srgbClr val="141A29"/>
          </a:solidFill>
          <a:ln w="12700">
            <a:solidFill>
              <a:srgbClr val="232D42"/>
            </a:solidFill>
            <a:prstDash val="solid"/>
          </a:ln>
        </p:spPr>
      </p:sp>
      <p:sp>
        <p:nvSpPr>
          <p:cNvPr id="8" name="Text 6"/>
          <p:cNvSpPr/>
          <p:nvPr/>
        </p:nvSpPr>
        <p:spPr>
          <a:xfrm>
            <a:off x="1005840" y="1600200"/>
            <a:ext cx="4572000" cy="4389120"/>
          </a:xfrm>
          <a:prstGeom prst="rect">
            <a:avLst/>
          </a:prstGeom>
          <a:noFill/>
          <a:ln/>
        </p:spPr>
        <p:txBody>
          <a:bodyPr wrap="square" rtlCol="0" anchor="ctr"/>
          <a:lstStyle/>
          <a:p>
            <a:pPr indent="0" marL="0">
              <a:lnSpc>
                <a:spcPts val="1500"/>
              </a:lnSpc>
              <a:buNone/>
            </a:pPr>
            <a:r>
              <a:rPr lang="en-US" sz="1150" b="1" dirty="0">
                <a:solidFill>
                  <a:srgbClr val="10B981"/>
                </a:solidFill>
                <a:latin typeface="Calibri" pitchFamily="34" charset="0"/>
                <a:ea typeface="Calibri" pitchFamily="34" charset="-122"/>
                <a:cs typeface="Calibri" pitchFamily="34" charset="-120"/>
              </a:rPr>
              <a:t>• High-Resolution Media Vault: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Centralized photo gallery with full-screen lightbox inspection and MP4/WebM video clip playback with YouTube/Vimeo embed parsing.
</a:t>
            </a:r>
            <a:pPr indent="0" marL="0">
              <a:lnSpc>
                <a:spcPts val="1500"/>
              </a:lnSpc>
              <a:buNone/>
            </a:pPr>
            <a:r>
              <a:rPr lang="en-US" sz="1150" b="1" dirty="0">
                <a:solidFill>
                  <a:srgbClr val="10B981"/>
                </a:solidFill>
                <a:latin typeface="Calibri" pitchFamily="34" charset="0"/>
                <a:ea typeface="Calibri" pitchFamily="34" charset="-122"/>
                <a:cs typeface="Calibri" pitchFamily="34" charset="-120"/>
              </a:rPr>
              <a:t>• High-Reliability Upload Pipeline: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Stores media in local /public/uploads with an automatic Base64 Data URI fallback on read-only serverless clouds so uploads never fail.
</a:t>
            </a:r>
            <a:pPr indent="0" marL="0">
              <a:lnSpc>
                <a:spcPts val="1500"/>
              </a:lnSpc>
              <a:buNone/>
            </a:pPr>
            <a:r>
              <a:rPr lang="en-US" sz="1150" b="1" dirty="0">
                <a:solidFill>
                  <a:srgbClr val="10B981"/>
                </a:solidFill>
                <a:latin typeface="Calibri" pitchFamily="34" charset="0"/>
                <a:ea typeface="Calibri" pitchFamily="34" charset="-122"/>
                <a:cs typeface="Calibri" pitchFamily="34" charset="-120"/>
              </a:rPr>
              <a:t>• Automated Executive Report Generator: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Automatically compiles Chief Guest details, faculty coordinators, objectives, student attendance numbers, and feedback stats.
</a:t>
            </a:r>
            <a:pPr indent="0" marL="0">
              <a:lnSpc>
                <a:spcPts val="1500"/>
              </a:lnSpc>
              <a:buNone/>
            </a:pPr>
            <a:r>
              <a:rPr lang="en-US" sz="1150" b="1" dirty="0">
                <a:solidFill>
                  <a:srgbClr val="10B981"/>
                </a:solidFill>
                <a:latin typeface="Calibri" pitchFamily="34" charset="0"/>
                <a:ea typeface="Calibri" pitchFamily="34" charset="-122"/>
                <a:cs typeface="Calibri" pitchFamily="34" charset="-120"/>
              </a:rPr>
              <a:t>• 1-Click Institutional PDF Export: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Powered by @react-pdf/renderer, coordinators export clean, official letterhead PDF documents ready for NAAC/NBA audit files.</a:t>
            </a:r>
            <a:endParaRPr lang="en-US" sz="1150" dirty="0"/>
          </a:p>
        </p:txBody>
      </p:sp>
      <p:sp>
        <p:nvSpPr>
          <p:cNvPr id="9" name="Shape 7"/>
          <p:cNvSpPr/>
          <p:nvPr/>
        </p:nvSpPr>
        <p:spPr>
          <a:xfrm>
            <a:off x="6217920" y="1417320"/>
            <a:ext cx="5212080" cy="4754880"/>
          </a:xfrm>
          <a:prstGeom prst="roundRect">
            <a:avLst>
              <a:gd name="adj" fmla="val 2885"/>
            </a:avLst>
          </a:prstGeom>
          <a:solidFill>
            <a:srgbClr val="141A29"/>
          </a:solidFill>
          <a:ln w="19050">
            <a:solidFill>
              <a:srgbClr val="6366F1"/>
            </a:solidFill>
            <a:prstDash val="dash"/>
          </a:ln>
        </p:spPr>
      </p:sp>
      <p:sp>
        <p:nvSpPr>
          <p:cNvPr id="10" name="Shape 8"/>
          <p:cNvSpPr/>
          <p:nvPr/>
        </p:nvSpPr>
        <p:spPr>
          <a:xfrm>
            <a:off x="6583680" y="1783080"/>
            <a:ext cx="2011680" cy="320040"/>
          </a:xfrm>
          <a:prstGeom prst="roundRect">
            <a:avLst>
              <a:gd name="adj" fmla="val 22857"/>
            </a:avLst>
          </a:prstGeom>
          <a:solidFill>
            <a:srgbClr val="1E2638"/>
          </a:solidFill>
          <a:ln w="12700">
            <a:solidFill>
              <a:srgbClr val="8B5CF6"/>
            </a:solidFill>
            <a:prstDash val="solid"/>
          </a:ln>
        </p:spPr>
      </p:sp>
      <p:sp>
        <p:nvSpPr>
          <p:cNvPr id="11" name="Text 9"/>
          <p:cNvSpPr/>
          <p:nvPr/>
        </p:nvSpPr>
        <p:spPr>
          <a:xfrm>
            <a:off x="6583680" y="1783080"/>
            <a:ext cx="2011680" cy="320040"/>
          </a:xfrm>
          <a:prstGeom prst="rect">
            <a:avLst/>
          </a:prstGeom>
          <a:noFill/>
          <a:ln/>
        </p:spPr>
        <p:txBody>
          <a:bodyPr wrap="square" rtlCol="0" anchor="ctr"/>
          <a:lstStyle/>
          <a:p>
            <a:pPr algn="ctr" indent="0" marL="0">
              <a:buNone/>
            </a:pPr>
            <a:r>
              <a:rPr lang="en-US" sz="900" b="1" dirty="0">
                <a:solidFill>
                  <a:srgbClr val="8B5CF6"/>
                </a:solidFill>
                <a:latin typeface="Segoe UI" pitchFamily="34" charset="0"/>
                <a:ea typeface="Segoe UI" pitchFamily="34" charset="-122"/>
                <a:cs typeface="Segoe UI" pitchFamily="34" charset="-120"/>
              </a:rPr>
              <a:t>IMAGE / SCREENSHOT</a:t>
            </a:r>
            <a:endParaRPr lang="en-US" sz="900" dirty="0"/>
          </a:p>
        </p:txBody>
      </p:sp>
      <p:sp>
        <p:nvSpPr>
          <p:cNvPr id="12" name="Text 10"/>
          <p:cNvSpPr/>
          <p:nvPr/>
        </p:nvSpPr>
        <p:spPr>
          <a:xfrm>
            <a:off x="6583680" y="3063240"/>
            <a:ext cx="4480560" cy="73152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[INSERT SCREENSHOT: Executive PDF Report]</a:t>
            </a:r>
            <a:endParaRPr lang="en-US" sz="1400" dirty="0"/>
          </a:p>
        </p:txBody>
      </p:sp>
      <p:sp>
        <p:nvSpPr>
          <p:cNvPr id="13" name="Text 11"/>
          <p:cNvSpPr/>
          <p:nvPr/>
        </p:nvSpPr>
        <p:spPr>
          <a:xfrm>
            <a:off x="6583680" y="3794760"/>
            <a:ext cx="4480560" cy="109728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Screenshot of the Media Vault Photo Gallery alongside a sample generated Institutional Executive PDF Report on college letterhead.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731520" y="365760"/>
            <a:ext cx="10725912" cy="822960"/>
          </a:xfrm>
          <a:prstGeom prst="rect">
            <a:avLst/>
          </a:prstGeom>
          <a:solidFill>
            <a:srgbClr val="000000">
              <a:alpha val="0"/>
            </a:srgbClr>
          </a:solidFill>
          <a:ln w="12700">
            <a:solidFill>
              <a:srgbClr val="000000">
                <a:alpha val="0"/>
              </a:srgbClr>
            </a:solidFill>
            <a:prstDash val="solid"/>
          </a:ln>
        </p:spPr>
      </p:sp>
      <p:sp>
        <p:nvSpPr>
          <p:cNvPr id="3" name="Text 1"/>
          <p:cNvSpPr/>
          <p:nvPr/>
        </p:nvSpPr>
        <p:spPr>
          <a:xfrm>
            <a:off x="731520" y="411480"/>
            <a:ext cx="7315200" cy="228600"/>
          </a:xfrm>
          <a:prstGeom prst="rect">
            <a:avLst/>
          </a:prstGeom>
          <a:noFill/>
          <a:ln/>
        </p:spPr>
        <p:txBody>
          <a:bodyPr wrap="square" rtlCol="0" anchor="ctr"/>
          <a:lstStyle/>
          <a:p>
            <a:pPr indent="0" marL="0">
              <a:buNone/>
            </a:pPr>
            <a:r>
              <a:rPr lang="en-US" sz="1000" b="1" spc="150" kern="0" dirty="0">
                <a:solidFill>
                  <a:srgbClr val="6366F1"/>
                </a:solidFill>
                <a:latin typeface="Calibri" pitchFamily="34" charset="0"/>
                <a:ea typeface="Calibri" pitchFamily="34" charset="-122"/>
                <a:cs typeface="Calibri" pitchFamily="34" charset="-120"/>
              </a:rPr>
              <a:t>09 / CROSS-PLATFORM ENGINEERING</a:t>
            </a:r>
            <a:endParaRPr lang="en-US" sz="1000" dirty="0"/>
          </a:p>
        </p:txBody>
      </p:sp>
      <p:sp>
        <p:nvSpPr>
          <p:cNvPr id="4" name="Text 2"/>
          <p:cNvSpPr/>
          <p:nvPr/>
        </p:nvSpPr>
        <p:spPr>
          <a:xfrm>
            <a:off x="731520" y="658368"/>
            <a:ext cx="8686800" cy="45720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Native Android Mobile Application (Capacitor 8.5)</a:t>
            </a:r>
            <a:endParaRPr lang="en-US" sz="2200" dirty="0"/>
          </a:p>
        </p:txBody>
      </p:sp>
      <p:sp>
        <p:nvSpPr>
          <p:cNvPr id="5" name="Text 3"/>
          <p:cNvSpPr/>
          <p:nvPr/>
        </p:nvSpPr>
        <p:spPr>
          <a:xfrm>
            <a:off x="10332720" y="502920"/>
            <a:ext cx="1097280" cy="320040"/>
          </a:xfrm>
          <a:prstGeom prst="rect">
            <a:avLst/>
          </a:prstGeom>
          <a:noFill/>
          <a:ln/>
        </p:spPr>
        <p:txBody>
          <a:bodyPr wrap="square" rtlCol="0" anchor="ctr"/>
          <a:lstStyle/>
          <a:p>
            <a:pPr algn="r" indent="0" marL="0">
              <a:buNone/>
            </a:pPr>
            <a:r>
              <a:rPr lang="en-US" sz="1100" b="1" dirty="0">
                <a:solidFill>
                  <a:srgbClr val="94A3B8"/>
                </a:solidFill>
                <a:latin typeface="Segoe UI" pitchFamily="34" charset="0"/>
                <a:ea typeface="Segoe UI" pitchFamily="34" charset="-122"/>
                <a:cs typeface="Segoe UI" pitchFamily="34" charset="-120"/>
              </a:rPr>
              <a:t>10 / 12</a:t>
            </a:r>
            <a:endParaRPr lang="en-US" sz="1100" dirty="0"/>
          </a:p>
        </p:txBody>
      </p:sp>
      <p:sp>
        <p:nvSpPr>
          <p:cNvPr id="6" name="Shape 4"/>
          <p:cNvSpPr/>
          <p:nvPr/>
        </p:nvSpPr>
        <p:spPr>
          <a:xfrm>
            <a:off x="731520" y="1143000"/>
            <a:ext cx="10725912" cy="0"/>
          </a:xfrm>
          <a:prstGeom prst="line">
            <a:avLst/>
          </a:prstGeom>
          <a:noFill/>
          <a:ln w="15240">
            <a:solidFill>
              <a:srgbClr val="232D42"/>
            </a:solidFill>
            <a:prstDash val="solid"/>
          </a:ln>
        </p:spPr>
      </p:sp>
      <p:sp>
        <p:nvSpPr>
          <p:cNvPr id="7" name="Shape 5"/>
          <p:cNvSpPr/>
          <p:nvPr/>
        </p:nvSpPr>
        <p:spPr>
          <a:xfrm>
            <a:off x="731520" y="1417320"/>
            <a:ext cx="5120640" cy="4754880"/>
          </a:xfrm>
          <a:prstGeom prst="roundRect">
            <a:avLst>
              <a:gd name="adj" fmla="val 2885"/>
            </a:avLst>
          </a:prstGeom>
          <a:solidFill>
            <a:srgbClr val="141A29"/>
          </a:solidFill>
          <a:ln w="12700">
            <a:solidFill>
              <a:srgbClr val="232D42"/>
            </a:solidFill>
            <a:prstDash val="solid"/>
          </a:ln>
        </p:spPr>
      </p:sp>
      <p:sp>
        <p:nvSpPr>
          <p:cNvPr id="8" name="Text 6"/>
          <p:cNvSpPr/>
          <p:nvPr/>
        </p:nvSpPr>
        <p:spPr>
          <a:xfrm>
            <a:off x="1005840" y="1600200"/>
            <a:ext cx="4572000" cy="4389120"/>
          </a:xfrm>
          <a:prstGeom prst="rect">
            <a:avLst/>
          </a:prstGeom>
          <a:noFill/>
          <a:ln/>
        </p:spPr>
        <p:txBody>
          <a:bodyPr wrap="square" rtlCol="0" anchor="ctr"/>
          <a:lstStyle/>
          <a:p>
            <a:pPr indent="0" marL="0">
              <a:lnSpc>
                <a:spcPts val="1500"/>
              </a:lnSpc>
              <a:buNone/>
            </a:pPr>
            <a:r>
              <a:rPr lang="en-US" sz="1150" b="1" dirty="0">
                <a:solidFill>
                  <a:srgbClr val="6366F1"/>
                </a:solidFill>
                <a:latin typeface="Calibri" pitchFamily="34" charset="0"/>
                <a:ea typeface="Calibri" pitchFamily="34" charset="-122"/>
                <a:cs typeface="Calibri" pitchFamily="34" charset="-120"/>
              </a:rPr>
              <a:t>• Hybrid Native Architecture: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Packaged using Capacitor 8.5 into a full-screen, hardware-accelerated Android WebView with native lifecycle controls.
</a:t>
            </a:r>
            <a:pPr indent="0" marL="0">
              <a:lnSpc>
                <a:spcPts val="1500"/>
              </a:lnSpc>
              <a:buNone/>
            </a:pPr>
            <a:r>
              <a:rPr lang="en-US" sz="1150" b="1" dirty="0">
                <a:solidFill>
                  <a:srgbClr val="6366F1"/>
                </a:solidFill>
                <a:latin typeface="Calibri" pitchFamily="34" charset="0"/>
                <a:ea typeface="Calibri" pitchFamily="34" charset="-122"/>
                <a:cs typeface="Calibri" pitchFamily="34" charset="-120"/>
              </a:rPr>
              <a:t>• Standalone Production Binary (CampusPulse.apk):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Pre-compiled APK (Application ID: com.campuspulse.app, Size: ~3.68 MB) ready for direct sideloading and Play Store distribution.
</a:t>
            </a:r>
            <a:pPr indent="0" marL="0">
              <a:lnSpc>
                <a:spcPts val="1500"/>
              </a:lnSpc>
              <a:buNone/>
            </a:pPr>
            <a:r>
              <a:rPr lang="en-US" sz="1150" b="1" dirty="0">
                <a:solidFill>
                  <a:srgbClr val="6366F1"/>
                </a:solidFill>
                <a:latin typeface="Calibri" pitchFamily="34" charset="0"/>
                <a:ea typeface="Calibri" pitchFamily="34" charset="-122"/>
                <a:cs typeface="Calibri" pitchFamily="34" charset="-120"/>
              </a:rPr>
              <a:t>• Native Assets &amp; Brand Isolation: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Custom branded splash screens (splash.png) and adaptive launcher icons across all Android DPI buckets (hdpi to xxxhdpi).
</a:t>
            </a:r>
            <a:pPr indent="0" marL="0">
              <a:lnSpc>
                <a:spcPts val="1500"/>
              </a:lnSpc>
              <a:buNone/>
            </a:pPr>
            <a:r>
              <a:rPr lang="en-US" sz="1150" b="1" dirty="0">
                <a:solidFill>
                  <a:srgbClr val="6366F1"/>
                </a:solidFill>
                <a:latin typeface="Calibri" pitchFamily="34" charset="0"/>
                <a:ea typeface="Calibri" pitchFamily="34" charset="-122"/>
                <a:cs typeface="Calibri" pitchFamily="34" charset="-120"/>
              </a:rPr>
              <a:t>• Live Sync Cloud Updates: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Connects to production remote URL (APP_URL), enabling web updates to reflect instantly on mobile devices without requiring app store updates.</a:t>
            </a:r>
            <a:endParaRPr lang="en-US" sz="1150" dirty="0"/>
          </a:p>
        </p:txBody>
      </p:sp>
      <p:sp>
        <p:nvSpPr>
          <p:cNvPr id="9" name="Shape 7"/>
          <p:cNvSpPr/>
          <p:nvPr/>
        </p:nvSpPr>
        <p:spPr>
          <a:xfrm>
            <a:off x="6217920" y="1417320"/>
            <a:ext cx="5212080" cy="4754880"/>
          </a:xfrm>
          <a:prstGeom prst="roundRect">
            <a:avLst>
              <a:gd name="adj" fmla="val 2885"/>
            </a:avLst>
          </a:prstGeom>
          <a:solidFill>
            <a:srgbClr val="141A29"/>
          </a:solidFill>
          <a:ln w="19050">
            <a:solidFill>
              <a:srgbClr val="6366F1"/>
            </a:solidFill>
            <a:prstDash val="dash"/>
          </a:ln>
        </p:spPr>
      </p:sp>
      <p:sp>
        <p:nvSpPr>
          <p:cNvPr id="10" name="Shape 8"/>
          <p:cNvSpPr/>
          <p:nvPr/>
        </p:nvSpPr>
        <p:spPr>
          <a:xfrm>
            <a:off x="6583680" y="1783080"/>
            <a:ext cx="2011680" cy="320040"/>
          </a:xfrm>
          <a:prstGeom prst="roundRect">
            <a:avLst>
              <a:gd name="adj" fmla="val 22857"/>
            </a:avLst>
          </a:prstGeom>
          <a:solidFill>
            <a:srgbClr val="1E2638"/>
          </a:solidFill>
          <a:ln w="12700">
            <a:solidFill>
              <a:srgbClr val="8B5CF6"/>
            </a:solidFill>
            <a:prstDash val="solid"/>
          </a:ln>
        </p:spPr>
      </p:sp>
      <p:sp>
        <p:nvSpPr>
          <p:cNvPr id="11" name="Text 9"/>
          <p:cNvSpPr/>
          <p:nvPr/>
        </p:nvSpPr>
        <p:spPr>
          <a:xfrm>
            <a:off x="6583680" y="1783080"/>
            <a:ext cx="2011680" cy="320040"/>
          </a:xfrm>
          <a:prstGeom prst="rect">
            <a:avLst/>
          </a:prstGeom>
          <a:noFill/>
          <a:ln/>
        </p:spPr>
        <p:txBody>
          <a:bodyPr wrap="square" rtlCol="0" anchor="ctr"/>
          <a:lstStyle/>
          <a:p>
            <a:pPr algn="ctr" indent="0" marL="0">
              <a:buNone/>
            </a:pPr>
            <a:r>
              <a:rPr lang="en-US" sz="900" b="1" dirty="0">
                <a:solidFill>
                  <a:srgbClr val="8B5CF6"/>
                </a:solidFill>
                <a:latin typeface="Segoe UI" pitchFamily="34" charset="0"/>
                <a:ea typeface="Segoe UI" pitchFamily="34" charset="-122"/>
                <a:cs typeface="Segoe UI" pitchFamily="34" charset="-120"/>
              </a:rPr>
              <a:t>IMAGE / SCREENSHOT</a:t>
            </a:r>
            <a:endParaRPr lang="en-US" sz="900" dirty="0"/>
          </a:p>
        </p:txBody>
      </p:sp>
      <p:sp>
        <p:nvSpPr>
          <p:cNvPr id="12" name="Text 10"/>
          <p:cNvSpPr/>
          <p:nvPr/>
        </p:nvSpPr>
        <p:spPr>
          <a:xfrm>
            <a:off x="6583680" y="3063240"/>
            <a:ext cx="4480560" cy="73152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[INSERT SCREENSHOT: Android App / Phone Mockup]</a:t>
            </a:r>
            <a:endParaRPr lang="en-US" sz="1400" dirty="0"/>
          </a:p>
        </p:txBody>
      </p:sp>
      <p:sp>
        <p:nvSpPr>
          <p:cNvPr id="13" name="Text 11"/>
          <p:cNvSpPr/>
          <p:nvPr/>
        </p:nvSpPr>
        <p:spPr>
          <a:xfrm>
            <a:off x="6583680" y="3794760"/>
            <a:ext cx="4480560" cy="109728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Photo of CampusPulse running on an Android smartphone screen, showing the mobile navigation drawer and event cards.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731520" y="365760"/>
            <a:ext cx="10725912" cy="822960"/>
          </a:xfrm>
          <a:prstGeom prst="rect">
            <a:avLst/>
          </a:prstGeom>
          <a:solidFill>
            <a:srgbClr val="000000">
              <a:alpha val="0"/>
            </a:srgbClr>
          </a:solidFill>
          <a:ln w="12700">
            <a:solidFill>
              <a:srgbClr val="000000">
                <a:alpha val="0"/>
              </a:srgbClr>
            </a:solidFill>
            <a:prstDash val="solid"/>
          </a:ln>
        </p:spPr>
      </p:sp>
      <p:sp>
        <p:nvSpPr>
          <p:cNvPr id="3" name="Text 1"/>
          <p:cNvSpPr/>
          <p:nvPr/>
        </p:nvSpPr>
        <p:spPr>
          <a:xfrm>
            <a:off x="731520" y="411480"/>
            <a:ext cx="7315200" cy="228600"/>
          </a:xfrm>
          <a:prstGeom prst="rect">
            <a:avLst/>
          </a:prstGeom>
          <a:noFill/>
          <a:ln/>
        </p:spPr>
        <p:txBody>
          <a:bodyPr wrap="square" rtlCol="0" anchor="ctr"/>
          <a:lstStyle/>
          <a:p>
            <a:pPr indent="0" marL="0">
              <a:buNone/>
            </a:pPr>
            <a:r>
              <a:rPr lang="en-US" sz="1000" b="1" spc="150" kern="0" dirty="0">
                <a:solidFill>
                  <a:srgbClr val="6366F1"/>
                </a:solidFill>
                <a:latin typeface="Calibri" pitchFamily="34" charset="0"/>
                <a:ea typeface="Calibri" pitchFamily="34" charset="-122"/>
                <a:cs typeface="Calibri" pitchFamily="34" charset="-120"/>
              </a:rPr>
              <a:t>10 / DEVOPS &amp; GOVERNANCE</a:t>
            </a:r>
            <a:endParaRPr lang="en-US" sz="1000" dirty="0"/>
          </a:p>
        </p:txBody>
      </p:sp>
      <p:sp>
        <p:nvSpPr>
          <p:cNvPr id="4" name="Text 2"/>
          <p:cNvSpPr/>
          <p:nvPr/>
        </p:nvSpPr>
        <p:spPr>
          <a:xfrm>
            <a:off x="731520" y="658368"/>
            <a:ext cx="8686800" cy="45720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Security, RBAC &amp; Multi-Platform DevOps</a:t>
            </a:r>
            <a:endParaRPr lang="en-US" sz="2200" dirty="0"/>
          </a:p>
        </p:txBody>
      </p:sp>
      <p:sp>
        <p:nvSpPr>
          <p:cNvPr id="5" name="Text 3"/>
          <p:cNvSpPr/>
          <p:nvPr/>
        </p:nvSpPr>
        <p:spPr>
          <a:xfrm>
            <a:off x="10332720" y="502920"/>
            <a:ext cx="1097280" cy="320040"/>
          </a:xfrm>
          <a:prstGeom prst="rect">
            <a:avLst/>
          </a:prstGeom>
          <a:noFill/>
          <a:ln/>
        </p:spPr>
        <p:txBody>
          <a:bodyPr wrap="square" rtlCol="0" anchor="ctr"/>
          <a:lstStyle/>
          <a:p>
            <a:pPr algn="r" indent="0" marL="0">
              <a:buNone/>
            </a:pPr>
            <a:r>
              <a:rPr lang="en-US" sz="1100" b="1" dirty="0">
                <a:solidFill>
                  <a:srgbClr val="94A3B8"/>
                </a:solidFill>
                <a:latin typeface="Segoe UI" pitchFamily="34" charset="0"/>
                <a:ea typeface="Segoe UI" pitchFamily="34" charset="-122"/>
                <a:cs typeface="Segoe UI" pitchFamily="34" charset="-120"/>
              </a:rPr>
              <a:t>11 / 12</a:t>
            </a:r>
            <a:endParaRPr lang="en-US" sz="1100" dirty="0"/>
          </a:p>
        </p:txBody>
      </p:sp>
      <p:sp>
        <p:nvSpPr>
          <p:cNvPr id="6" name="Shape 4"/>
          <p:cNvSpPr/>
          <p:nvPr/>
        </p:nvSpPr>
        <p:spPr>
          <a:xfrm>
            <a:off x="731520" y="1143000"/>
            <a:ext cx="10725912" cy="0"/>
          </a:xfrm>
          <a:prstGeom prst="line">
            <a:avLst/>
          </a:prstGeom>
          <a:noFill/>
          <a:ln w="15240">
            <a:solidFill>
              <a:srgbClr val="232D42"/>
            </a:solidFill>
            <a:prstDash val="solid"/>
          </a:ln>
        </p:spPr>
      </p:sp>
      <p:sp>
        <p:nvSpPr>
          <p:cNvPr id="7" name="Shape 5"/>
          <p:cNvSpPr/>
          <p:nvPr/>
        </p:nvSpPr>
        <p:spPr>
          <a:xfrm>
            <a:off x="731520" y="1417320"/>
            <a:ext cx="5120640" cy="4754880"/>
          </a:xfrm>
          <a:prstGeom prst="roundRect">
            <a:avLst>
              <a:gd name="adj" fmla="val 2885"/>
            </a:avLst>
          </a:prstGeom>
          <a:solidFill>
            <a:srgbClr val="141A29"/>
          </a:solidFill>
          <a:ln w="12700">
            <a:solidFill>
              <a:srgbClr val="232D42"/>
            </a:solidFill>
            <a:prstDash val="solid"/>
          </a:ln>
        </p:spPr>
      </p:sp>
      <p:sp>
        <p:nvSpPr>
          <p:cNvPr id="8" name="Text 6"/>
          <p:cNvSpPr/>
          <p:nvPr/>
        </p:nvSpPr>
        <p:spPr>
          <a:xfrm>
            <a:off x="1005840" y="1600200"/>
            <a:ext cx="4572000" cy="4389120"/>
          </a:xfrm>
          <a:prstGeom prst="rect">
            <a:avLst/>
          </a:prstGeom>
          <a:noFill/>
          <a:ln/>
        </p:spPr>
        <p:txBody>
          <a:bodyPr wrap="square" rtlCol="0" anchor="ctr"/>
          <a:lstStyle/>
          <a:p>
            <a:pPr indent="0" marL="0">
              <a:lnSpc>
                <a:spcPts val="1400"/>
              </a:lnSpc>
              <a:buNone/>
            </a:pPr>
            <a:r>
              <a:rPr lang="en-US" sz="1150" b="1" dirty="0">
                <a:solidFill>
                  <a:srgbClr val="8B5CF6"/>
                </a:solidFill>
                <a:latin typeface="Calibri" pitchFamily="34" charset="0"/>
                <a:ea typeface="Calibri" pitchFamily="34" charset="-122"/>
                <a:cs typeface="Calibri" pitchFamily="34" charset="-120"/>
              </a:rPr>
              <a:t>1. Role-Based Access Control (RBAC):
</a:t>
            </a:r>
            <a:pPr indent="0" marL="0">
              <a:lnSpc>
                <a:spcPts val="1400"/>
              </a:lnSpc>
              <a:buNone/>
            </a:pPr>
            <a:r>
              <a:rPr lang="en-US" sz="1000" dirty="0">
                <a:solidFill>
                  <a:srgbClr val="E2E8F0"/>
                </a:solidFill>
                <a:latin typeface="Calibri" pitchFamily="34" charset="0"/>
                <a:ea typeface="Calibri" pitchFamily="34" charset="-122"/>
                <a:cs typeface="Calibri" pitchFamily="34" charset="-120"/>
              </a:rPr>
              <a:t>• Student Role: Can view events, register for sessions, and post Q&amp;A queries.
• Admin Role: Exclusive access to create/edit events, build surveys, and download reports.
</a:t>
            </a:r>
            <a:pPr indent="0" marL="0">
              <a:lnSpc>
                <a:spcPts val="1400"/>
              </a:lnSpc>
              <a:buNone/>
            </a:pPr>
            <a:r>
              <a:rPr lang="en-US" sz="1150" b="1" dirty="0">
                <a:solidFill>
                  <a:srgbClr val="8B5CF6"/>
                </a:solidFill>
                <a:latin typeface="Calibri" pitchFamily="34" charset="0"/>
                <a:ea typeface="Calibri" pitchFamily="34" charset="-122"/>
                <a:cs typeface="Calibri" pitchFamily="34" charset="-120"/>
              </a:rPr>
              <a:t>2. User Authentication &amp; Password Protection:
</a:t>
            </a:r>
            <a:pPr indent="0" marL="0">
              <a:lnSpc>
                <a:spcPts val="1400"/>
              </a:lnSpc>
              <a:buNone/>
            </a:pPr>
            <a:r>
              <a:rPr lang="en-US" sz="1000" dirty="0">
                <a:solidFill>
                  <a:srgbClr val="E2E8F0"/>
                </a:solidFill>
                <a:latin typeface="Calibri" pitchFamily="34" charset="0"/>
                <a:ea typeface="Calibri" pitchFamily="34" charset="-122"/>
                <a:cs typeface="Calibri" pitchFamily="34" charset="-120"/>
              </a:rPr>
              <a:t>• Secure Login: Powered by NextAuth with encrypted session tokens.
• Password Hashing: Passwords are encrypted using Bcrypt before saving to database.
</a:t>
            </a:r>
            <a:pPr indent="0" marL="0">
              <a:lnSpc>
                <a:spcPts val="1400"/>
              </a:lnSpc>
              <a:buNone/>
            </a:pPr>
            <a:r>
              <a:rPr lang="en-US" sz="1150" b="1" dirty="0">
                <a:solidFill>
                  <a:srgbClr val="8B5CF6"/>
                </a:solidFill>
                <a:latin typeface="Calibri" pitchFamily="34" charset="0"/>
                <a:ea typeface="Calibri" pitchFamily="34" charset="-122"/>
                <a:cs typeface="Calibri" pitchFamily="34" charset="-120"/>
              </a:rPr>
              <a:t>3. Online Cloud Hosting (Netlify):
</a:t>
            </a:r>
            <a:pPr indent="0" marL="0">
              <a:lnSpc>
                <a:spcPts val="1400"/>
              </a:lnSpc>
              <a:buNone/>
            </a:pPr>
            <a:r>
              <a:rPr lang="en-US" sz="1000" dirty="0">
                <a:solidFill>
                  <a:srgbClr val="E2E8F0"/>
                </a:solidFill>
                <a:latin typeface="Calibri" pitchFamily="34" charset="0"/>
                <a:ea typeface="Calibri" pitchFamily="34" charset="-122"/>
                <a:cs typeface="Calibri" pitchFamily="34" charset="-120"/>
              </a:rPr>
              <a:t>• 24/7 Availability: Hosted online on Netlify so students can access from any mobile or PC.
• Automatic Updates: Pushing code to GitHub automatically redeploys the live platform.
</a:t>
            </a:r>
            <a:pPr indent="0" marL="0">
              <a:lnSpc>
                <a:spcPts val="1400"/>
              </a:lnSpc>
              <a:buNone/>
            </a:pPr>
            <a:r>
              <a:rPr lang="en-US" sz="1150" b="1" dirty="0">
                <a:solidFill>
                  <a:srgbClr val="8B5CF6"/>
                </a:solidFill>
                <a:latin typeface="Calibri" pitchFamily="34" charset="0"/>
                <a:ea typeface="Calibri" pitchFamily="34" charset="-122"/>
                <a:cs typeface="Calibri" pitchFamily="34" charset="-120"/>
              </a:rPr>
              <a:t>4. Deployment Portability (Docker):
</a:t>
            </a:r>
            <a:pPr indent="0" marL="0">
              <a:lnSpc>
                <a:spcPts val="1400"/>
              </a:lnSpc>
              <a:buNone/>
            </a:pPr>
            <a:r>
              <a:rPr lang="en-US" sz="1000" dirty="0">
                <a:solidFill>
                  <a:srgbClr val="E2E8F0"/>
                </a:solidFill>
                <a:latin typeface="Calibri" pitchFamily="34" charset="0"/>
                <a:ea typeface="Calibri" pitchFamily="34" charset="-122"/>
                <a:cs typeface="Calibri" pitchFamily="34" charset="-120"/>
              </a:rPr>
              <a:t>• Container Support: Can also run on local college servers or VPS using Docker.</a:t>
            </a:r>
            <a:endParaRPr lang="en-US" sz="1150" dirty="0"/>
          </a:p>
        </p:txBody>
      </p:sp>
      <p:sp>
        <p:nvSpPr>
          <p:cNvPr id="9" name="Shape 7"/>
          <p:cNvSpPr/>
          <p:nvPr/>
        </p:nvSpPr>
        <p:spPr>
          <a:xfrm>
            <a:off x="6217920" y="1417320"/>
            <a:ext cx="5212080" cy="4754880"/>
          </a:xfrm>
          <a:prstGeom prst="roundRect">
            <a:avLst>
              <a:gd name="adj" fmla="val 2885"/>
            </a:avLst>
          </a:prstGeom>
          <a:solidFill>
            <a:srgbClr val="141A29"/>
          </a:solidFill>
          <a:ln w="19050">
            <a:solidFill>
              <a:srgbClr val="6366F1"/>
            </a:solidFill>
            <a:prstDash val="dash"/>
          </a:ln>
        </p:spPr>
      </p:sp>
      <p:sp>
        <p:nvSpPr>
          <p:cNvPr id="10" name="Shape 8"/>
          <p:cNvSpPr/>
          <p:nvPr/>
        </p:nvSpPr>
        <p:spPr>
          <a:xfrm>
            <a:off x="6583680" y="1783080"/>
            <a:ext cx="2011680" cy="320040"/>
          </a:xfrm>
          <a:prstGeom prst="roundRect">
            <a:avLst>
              <a:gd name="adj" fmla="val 22857"/>
            </a:avLst>
          </a:prstGeom>
          <a:solidFill>
            <a:srgbClr val="1E2638"/>
          </a:solidFill>
          <a:ln w="12700">
            <a:solidFill>
              <a:srgbClr val="8B5CF6"/>
            </a:solidFill>
            <a:prstDash val="solid"/>
          </a:ln>
        </p:spPr>
      </p:sp>
      <p:sp>
        <p:nvSpPr>
          <p:cNvPr id="11" name="Text 9"/>
          <p:cNvSpPr/>
          <p:nvPr/>
        </p:nvSpPr>
        <p:spPr>
          <a:xfrm>
            <a:off x="6583680" y="1783080"/>
            <a:ext cx="2011680" cy="320040"/>
          </a:xfrm>
          <a:prstGeom prst="rect">
            <a:avLst/>
          </a:prstGeom>
          <a:noFill/>
          <a:ln/>
        </p:spPr>
        <p:txBody>
          <a:bodyPr wrap="square" rtlCol="0" anchor="ctr"/>
          <a:lstStyle/>
          <a:p>
            <a:pPr algn="ctr" indent="0" marL="0">
              <a:buNone/>
            </a:pPr>
            <a:r>
              <a:rPr lang="en-US" sz="900" b="1" dirty="0">
                <a:solidFill>
                  <a:srgbClr val="8B5CF6"/>
                </a:solidFill>
                <a:latin typeface="Segoe UI" pitchFamily="34" charset="0"/>
                <a:ea typeface="Segoe UI" pitchFamily="34" charset="-122"/>
                <a:cs typeface="Segoe UI" pitchFamily="34" charset="-120"/>
              </a:rPr>
              <a:t>IMAGE / SCREENSHOT</a:t>
            </a:r>
            <a:endParaRPr lang="en-US" sz="900" dirty="0"/>
          </a:p>
        </p:txBody>
      </p:sp>
      <p:sp>
        <p:nvSpPr>
          <p:cNvPr id="12" name="Text 10"/>
          <p:cNvSpPr/>
          <p:nvPr/>
        </p:nvSpPr>
        <p:spPr>
          <a:xfrm>
            <a:off x="6583680" y="3063240"/>
            <a:ext cx="4480560" cy="73152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[INSERT DEPLOYMENT DIAGRAM]</a:t>
            </a:r>
            <a:endParaRPr lang="en-US" sz="1400" dirty="0"/>
          </a:p>
        </p:txBody>
      </p:sp>
      <p:sp>
        <p:nvSpPr>
          <p:cNvPr id="13" name="Text 11"/>
          <p:cNvSpPr/>
          <p:nvPr/>
        </p:nvSpPr>
        <p:spPr>
          <a:xfrm>
            <a:off x="6583680" y="3794760"/>
            <a:ext cx="4480560" cy="109728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Simple flow: Code on GitHub → Automatic Build → Live Website on Netlify &amp; Android Mobile App.</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731520" y="365760"/>
            <a:ext cx="10725912" cy="822960"/>
          </a:xfrm>
          <a:prstGeom prst="rect">
            <a:avLst/>
          </a:prstGeom>
          <a:solidFill>
            <a:srgbClr val="000000">
              <a:alpha val="0"/>
            </a:srgbClr>
          </a:solidFill>
          <a:ln w="12700">
            <a:solidFill>
              <a:srgbClr val="000000">
                <a:alpha val="0"/>
              </a:srgbClr>
            </a:solidFill>
            <a:prstDash val="solid"/>
          </a:ln>
        </p:spPr>
      </p:sp>
      <p:sp>
        <p:nvSpPr>
          <p:cNvPr id="3" name="Text 1"/>
          <p:cNvSpPr/>
          <p:nvPr/>
        </p:nvSpPr>
        <p:spPr>
          <a:xfrm>
            <a:off x="731520" y="411480"/>
            <a:ext cx="7315200" cy="228600"/>
          </a:xfrm>
          <a:prstGeom prst="rect">
            <a:avLst/>
          </a:prstGeom>
          <a:noFill/>
          <a:ln/>
        </p:spPr>
        <p:txBody>
          <a:bodyPr wrap="square" rtlCol="0" anchor="ctr"/>
          <a:lstStyle/>
          <a:p>
            <a:pPr indent="0" marL="0">
              <a:buNone/>
            </a:pPr>
            <a:r>
              <a:rPr lang="en-US" sz="1000" b="1" spc="150" kern="0" dirty="0">
                <a:solidFill>
                  <a:srgbClr val="6366F1"/>
                </a:solidFill>
                <a:latin typeface="Calibri" pitchFamily="34" charset="0"/>
                <a:ea typeface="Calibri" pitchFamily="34" charset="-122"/>
                <a:cs typeface="Calibri" pitchFamily="34" charset="-120"/>
              </a:rPr>
              <a:t>11 / SUMMARY &amp; VISION</a:t>
            </a:r>
            <a:endParaRPr lang="en-US" sz="1000" dirty="0"/>
          </a:p>
        </p:txBody>
      </p:sp>
      <p:sp>
        <p:nvSpPr>
          <p:cNvPr id="4" name="Text 2"/>
          <p:cNvSpPr/>
          <p:nvPr/>
        </p:nvSpPr>
        <p:spPr>
          <a:xfrm>
            <a:off x="731520" y="658368"/>
            <a:ext cx="8686800" cy="45720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Project Impact, Future Scope &amp; Conclusion</a:t>
            </a:r>
            <a:endParaRPr lang="en-US" sz="2200" dirty="0"/>
          </a:p>
        </p:txBody>
      </p:sp>
      <p:sp>
        <p:nvSpPr>
          <p:cNvPr id="5" name="Text 3"/>
          <p:cNvSpPr/>
          <p:nvPr/>
        </p:nvSpPr>
        <p:spPr>
          <a:xfrm>
            <a:off x="10332720" y="502920"/>
            <a:ext cx="1097280" cy="320040"/>
          </a:xfrm>
          <a:prstGeom prst="rect">
            <a:avLst/>
          </a:prstGeom>
          <a:noFill/>
          <a:ln/>
        </p:spPr>
        <p:txBody>
          <a:bodyPr wrap="square" rtlCol="0" anchor="ctr"/>
          <a:lstStyle/>
          <a:p>
            <a:pPr algn="r" indent="0" marL="0">
              <a:buNone/>
            </a:pPr>
            <a:r>
              <a:rPr lang="en-US" sz="1100" b="1" dirty="0">
                <a:solidFill>
                  <a:srgbClr val="94A3B8"/>
                </a:solidFill>
                <a:latin typeface="Segoe UI" pitchFamily="34" charset="0"/>
                <a:ea typeface="Segoe UI" pitchFamily="34" charset="-122"/>
                <a:cs typeface="Segoe UI" pitchFamily="34" charset="-120"/>
              </a:rPr>
              <a:t>12 / 12</a:t>
            </a:r>
            <a:endParaRPr lang="en-US" sz="1100" dirty="0"/>
          </a:p>
        </p:txBody>
      </p:sp>
      <p:sp>
        <p:nvSpPr>
          <p:cNvPr id="6" name="Shape 4"/>
          <p:cNvSpPr/>
          <p:nvPr/>
        </p:nvSpPr>
        <p:spPr>
          <a:xfrm>
            <a:off x="731520" y="1143000"/>
            <a:ext cx="10725912" cy="0"/>
          </a:xfrm>
          <a:prstGeom prst="line">
            <a:avLst/>
          </a:prstGeom>
          <a:noFill/>
          <a:ln w="15240">
            <a:solidFill>
              <a:srgbClr val="232D42"/>
            </a:solidFill>
            <a:prstDash val="solid"/>
          </a:ln>
        </p:spPr>
      </p:sp>
      <p:sp>
        <p:nvSpPr>
          <p:cNvPr id="7" name="Shape 5"/>
          <p:cNvSpPr/>
          <p:nvPr/>
        </p:nvSpPr>
        <p:spPr>
          <a:xfrm>
            <a:off x="731520" y="1417320"/>
            <a:ext cx="5120640" cy="4754880"/>
          </a:xfrm>
          <a:prstGeom prst="roundRect">
            <a:avLst>
              <a:gd name="adj" fmla="val 2885"/>
            </a:avLst>
          </a:prstGeom>
          <a:solidFill>
            <a:srgbClr val="141A29"/>
          </a:solidFill>
          <a:ln w="12700">
            <a:solidFill>
              <a:srgbClr val="232D42"/>
            </a:solidFill>
            <a:prstDash val="solid"/>
          </a:ln>
        </p:spPr>
      </p:sp>
      <p:sp>
        <p:nvSpPr>
          <p:cNvPr id="8" name="Text 6"/>
          <p:cNvSpPr/>
          <p:nvPr/>
        </p:nvSpPr>
        <p:spPr>
          <a:xfrm>
            <a:off x="1005840" y="1600200"/>
            <a:ext cx="4572000" cy="274320"/>
          </a:xfrm>
          <a:prstGeom prst="rect">
            <a:avLst/>
          </a:prstGeom>
          <a:noFill/>
          <a:ln/>
        </p:spPr>
        <p:txBody>
          <a:bodyPr wrap="square" rtlCol="0" anchor="ctr"/>
          <a:lstStyle/>
          <a:p>
            <a:pPr indent="0" marL="0">
              <a:buNone/>
            </a:pPr>
            <a:r>
              <a:rPr lang="en-US" sz="1200" b="1" dirty="0">
                <a:solidFill>
                  <a:srgbClr val="10B981"/>
                </a:solidFill>
                <a:latin typeface="Segoe UI" pitchFamily="34" charset="0"/>
                <a:ea typeface="Segoe UI" pitchFamily="34" charset="-122"/>
                <a:cs typeface="Segoe UI" pitchFamily="34" charset="-120"/>
              </a:rPr>
              <a:t>MEASURABLE PROJECT IMPACT</a:t>
            </a:r>
            <a:endParaRPr lang="en-US" sz="1200" dirty="0"/>
          </a:p>
        </p:txBody>
      </p:sp>
      <p:sp>
        <p:nvSpPr>
          <p:cNvPr id="9" name="Text 7"/>
          <p:cNvSpPr/>
          <p:nvPr/>
        </p:nvSpPr>
        <p:spPr>
          <a:xfrm>
            <a:off x="1005840" y="1965960"/>
            <a:ext cx="4572000" cy="3840480"/>
          </a:xfrm>
          <a:prstGeom prst="rect">
            <a:avLst/>
          </a:prstGeom>
          <a:noFill/>
          <a:ln/>
        </p:spPr>
        <p:txBody>
          <a:bodyPr wrap="square" rtlCol="0" anchor="ctr"/>
          <a:lstStyle/>
          <a:p>
            <a:pPr indent="0" marL="0">
              <a:lnSpc>
                <a:spcPts val="1500"/>
              </a:lnSpc>
              <a:buNone/>
            </a:pPr>
            <a:r>
              <a:rPr lang="en-US" sz="1050" b="1" dirty="0">
                <a:solidFill>
                  <a:srgbClr val="FFFFFF"/>
                </a:solidFill>
                <a:latin typeface="Calibri" pitchFamily="34" charset="0"/>
                <a:ea typeface="Calibri" pitchFamily="34" charset="-122"/>
                <a:cs typeface="Calibri" pitchFamily="34" charset="-120"/>
              </a:rPr>
              <a:t>• 100% Paperless Registration: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Completely eliminates manual paper forms and physical queue registration.
</a:t>
            </a:r>
            <a:pPr indent="0" marL="0">
              <a:lnSpc>
                <a:spcPts val="1500"/>
              </a:lnSpc>
              <a:buNone/>
            </a:pPr>
            <a:r>
              <a:rPr lang="en-US" sz="1050" b="1" dirty="0">
                <a:solidFill>
                  <a:srgbClr val="FFFFFF"/>
                </a:solidFill>
                <a:latin typeface="Calibri" pitchFamily="34" charset="0"/>
                <a:ea typeface="Calibri" pitchFamily="34" charset="-122"/>
                <a:cs typeface="Calibri" pitchFamily="34" charset="-120"/>
              </a:rPr>
              <a:t>• 5-Second Seat Confirmation: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Atomic database reservation guarantees no double-booking.
</a:t>
            </a:r>
            <a:pPr indent="0" marL="0">
              <a:lnSpc>
                <a:spcPts val="1500"/>
              </a:lnSpc>
              <a:buNone/>
            </a:pPr>
            <a:r>
              <a:rPr lang="en-US" sz="1050" b="1" dirty="0">
                <a:solidFill>
                  <a:srgbClr val="FFFFFF"/>
                </a:solidFill>
                <a:latin typeface="Calibri" pitchFamily="34" charset="0"/>
                <a:ea typeface="Calibri" pitchFamily="34" charset="-122"/>
                <a:cs typeface="Calibri" pitchFamily="34" charset="-120"/>
              </a:rPr>
              <a:t>• 300% Boost in Student Feedback: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In-platform survey forms with automated sentiment scoring.
</a:t>
            </a:r>
            <a:pPr indent="0" marL="0">
              <a:lnSpc>
                <a:spcPts val="1500"/>
              </a:lnSpc>
              <a:buNone/>
            </a:pPr>
            <a:r>
              <a:rPr lang="en-US" sz="1050" b="1" dirty="0">
                <a:solidFill>
                  <a:srgbClr val="FFFFFF"/>
                </a:solidFill>
                <a:latin typeface="Calibri" pitchFamily="34" charset="0"/>
                <a:ea typeface="Calibri" pitchFamily="34" charset="-122"/>
                <a:cs typeface="Calibri" pitchFamily="34" charset="-120"/>
              </a:rPr>
              <a:t>• 90% Administrative Time Saved: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Generates institutional accreditation audit reports in 1 click.</a:t>
            </a:r>
            <a:endParaRPr lang="en-US" sz="1050" dirty="0"/>
          </a:p>
        </p:txBody>
      </p:sp>
      <p:sp>
        <p:nvSpPr>
          <p:cNvPr id="10" name="Shape 8"/>
          <p:cNvSpPr/>
          <p:nvPr/>
        </p:nvSpPr>
        <p:spPr>
          <a:xfrm>
            <a:off x="6217920" y="1417320"/>
            <a:ext cx="5212080" cy="4754880"/>
          </a:xfrm>
          <a:prstGeom prst="roundRect">
            <a:avLst>
              <a:gd name="adj" fmla="val 2885"/>
            </a:avLst>
          </a:prstGeom>
          <a:solidFill>
            <a:srgbClr val="141A29"/>
          </a:solidFill>
          <a:ln w="12700">
            <a:solidFill>
              <a:srgbClr val="232D42"/>
            </a:solidFill>
            <a:prstDash val="solid"/>
          </a:ln>
        </p:spPr>
      </p:sp>
      <p:sp>
        <p:nvSpPr>
          <p:cNvPr id="11" name="Text 9"/>
          <p:cNvSpPr/>
          <p:nvPr/>
        </p:nvSpPr>
        <p:spPr>
          <a:xfrm>
            <a:off x="6492240" y="1600200"/>
            <a:ext cx="4572000" cy="274320"/>
          </a:xfrm>
          <a:prstGeom prst="rect">
            <a:avLst/>
          </a:prstGeom>
          <a:noFill/>
          <a:ln/>
        </p:spPr>
        <p:txBody>
          <a:bodyPr wrap="square" rtlCol="0" anchor="ctr"/>
          <a:lstStyle/>
          <a:p>
            <a:pPr indent="0" marL="0">
              <a:buNone/>
            </a:pPr>
            <a:r>
              <a:rPr lang="en-US" sz="1200" b="1" dirty="0">
                <a:solidFill>
                  <a:srgbClr val="8B5CF6"/>
                </a:solidFill>
                <a:latin typeface="Segoe UI" pitchFamily="34" charset="0"/>
                <a:ea typeface="Segoe UI" pitchFamily="34" charset="-122"/>
                <a:cs typeface="Segoe UI" pitchFamily="34" charset="-120"/>
              </a:rPr>
              <a:t>FUTURE ENHANCEMENTS &amp; ROADMAP</a:t>
            </a:r>
            <a:endParaRPr lang="en-US" sz="1200" dirty="0"/>
          </a:p>
        </p:txBody>
      </p:sp>
      <p:sp>
        <p:nvSpPr>
          <p:cNvPr id="12" name="Text 10"/>
          <p:cNvSpPr/>
          <p:nvPr/>
        </p:nvSpPr>
        <p:spPr>
          <a:xfrm>
            <a:off x="6492240" y="1965960"/>
            <a:ext cx="4572000" cy="2377440"/>
          </a:xfrm>
          <a:prstGeom prst="rect">
            <a:avLst/>
          </a:prstGeom>
          <a:noFill/>
          <a:ln/>
        </p:spPr>
        <p:txBody>
          <a:bodyPr wrap="square" rtlCol="0" anchor="ctr"/>
          <a:lstStyle/>
          <a:p>
            <a:pPr indent="0" marL="0">
              <a:lnSpc>
                <a:spcPts val="1400"/>
              </a:lnSpc>
              <a:buNone/>
            </a:pPr>
            <a:r>
              <a:rPr lang="en-US" sz="1050" b="1" dirty="0">
                <a:solidFill>
                  <a:srgbClr val="FFFFFF"/>
                </a:solidFill>
                <a:latin typeface="Calibri" pitchFamily="34" charset="0"/>
                <a:ea typeface="Calibri" pitchFamily="34" charset="-122"/>
                <a:cs typeface="Calibri" pitchFamily="34" charset="-120"/>
              </a:rPr>
              <a:t>• AI Event Recommendation Engine:
</a:t>
            </a:r>
            <a:pPr indent="0" marL="0">
              <a:lnSpc>
                <a:spcPts val="1400"/>
              </a:lnSpc>
              <a:buNone/>
            </a:pPr>
            <a:r>
              <a:rPr lang="en-US" sz="1050" dirty="0">
                <a:solidFill>
                  <a:srgbClr val="E2E8F0"/>
                </a:solidFill>
                <a:latin typeface="Calibri" pitchFamily="34" charset="0"/>
                <a:ea typeface="Calibri" pitchFamily="34" charset="-122"/>
                <a:cs typeface="Calibri" pitchFamily="34" charset="-120"/>
              </a:rPr>
              <a:t>Suggests upcoming seminars based on student department &amp; past interests.
</a:t>
            </a:r>
            <a:pPr indent="0" marL="0">
              <a:lnSpc>
                <a:spcPts val="1400"/>
              </a:lnSpc>
              <a:buNone/>
            </a:pPr>
            <a:r>
              <a:rPr lang="en-US" sz="1050" b="1" dirty="0">
                <a:solidFill>
                  <a:srgbClr val="FFFFFF"/>
                </a:solidFill>
                <a:latin typeface="Calibri" pitchFamily="34" charset="0"/>
                <a:ea typeface="Calibri" pitchFamily="34" charset="-122"/>
                <a:cs typeface="Calibri" pitchFamily="34" charset="-120"/>
              </a:rPr>
              <a:t>• Automated Participation Certificates:
</a:t>
            </a:r>
            <a:pPr indent="0" marL="0">
              <a:lnSpc>
                <a:spcPts val="1400"/>
              </a:lnSpc>
              <a:buNone/>
            </a:pPr>
            <a:r>
              <a:rPr lang="en-US" sz="1050" dirty="0">
                <a:solidFill>
                  <a:srgbClr val="E2E8F0"/>
                </a:solidFill>
                <a:latin typeface="Calibri" pitchFamily="34" charset="0"/>
                <a:ea typeface="Calibri" pitchFamily="34" charset="-122"/>
                <a:cs typeface="Calibri" pitchFamily="34" charset="-120"/>
              </a:rPr>
              <a:t>Digital signed certificates generated automatically post-event.
</a:t>
            </a:r>
            <a:pPr indent="0" marL="0">
              <a:lnSpc>
                <a:spcPts val="1400"/>
              </a:lnSpc>
              <a:buNone/>
            </a:pPr>
            <a:r>
              <a:rPr lang="en-US" sz="1050" b="1" dirty="0">
                <a:solidFill>
                  <a:srgbClr val="FFFFFF"/>
                </a:solidFill>
                <a:latin typeface="Calibri" pitchFamily="34" charset="0"/>
                <a:ea typeface="Calibri" pitchFamily="34" charset="-122"/>
                <a:cs typeface="Calibri" pitchFamily="34" charset="-120"/>
              </a:rPr>
              <a:t>• Campus Push &amp; SMS Notifications:
</a:t>
            </a:r>
            <a:pPr indent="0" marL="0">
              <a:lnSpc>
                <a:spcPts val="1400"/>
              </a:lnSpc>
              <a:buNone/>
            </a:pPr>
            <a:r>
              <a:rPr lang="en-US" sz="1050" dirty="0">
                <a:solidFill>
                  <a:srgbClr val="E2E8F0"/>
                </a:solidFill>
                <a:latin typeface="Calibri" pitchFamily="34" charset="0"/>
                <a:ea typeface="Calibri" pitchFamily="34" charset="-122"/>
                <a:cs typeface="Calibri" pitchFamily="34" charset="-120"/>
              </a:rPr>
              <a:t>Real-time alerts for schedule delays and venue changes.
</a:t>
            </a:r>
            <a:endParaRPr lang="en-US" sz="1050" dirty="0"/>
          </a:p>
        </p:txBody>
      </p:sp>
      <p:sp>
        <p:nvSpPr>
          <p:cNvPr id="13" name="Shape 11"/>
          <p:cNvSpPr/>
          <p:nvPr/>
        </p:nvSpPr>
        <p:spPr>
          <a:xfrm>
            <a:off x="6492240" y="4572000"/>
            <a:ext cx="4663440" cy="1325880"/>
          </a:xfrm>
          <a:prstGeom prst="roundRect">
            <a:avLst>
              <a:gd name="adj" fmla="val 6897"/>
            </a:avLst>
          </a:prstGeom>
          <a:solidFill>
            <a:srgbClr val="1E2638"/>
          </a:solidFill>
          <a:ln w="15240">
            <a:solidFill>
              <a:srgbClr val="6366F1"/>
            </a:solidFill>
            <a:prstDash val="solid"/>
          </a:ln>
        </p:spPr>
      </p:sp>
      <p:sp>
        <p:nvSpPr>
          <p:cNvPr id="14" name="Text 12"/>
          <p:cNvSpPr/>
          <p:nvPr/>
        </p:nvSpPr>
        <p:spPr>
          <a:xfrm>
            <a:off x="6492240" y="4709160"/>
            <a:ext cx="4663440" cy="365760"/>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THANK YOU!</a:t>
            </a:r>
            <a:endParaRPr lang="en-US" sz="1600" dirty="0"/>
          </a:p>
        </p:txBody>
      </p:sp>
      <p:sp>
        <p:nvSpPr>
          <p:cNvPr id="15" name="Text 13"/>
          <p:cNvSpPr/>
          <p:nvPr/>
        </p:nvSpPr>
        <p:spPr>
          <a:xfrm>
            <a:off x="6492240" y="5120640"/>
            <a:ext cx="4663440" cy="320040"/>
          </a:xfrm>
          <a:prstGeom prst="rect">
            <a:avLst/>
          </a:prstGeom>
          <a:noFill/>
          <a:ln/>
        </p:spPr>
        <p:txBody>
          <a:bodyPr wrap="square"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Questions &amp; Open Discussion with the Panel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CampusPulse University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 Master Project Presentation</dc:title>
  <dc:subject>PptxGenJS Presentation</dc:subject>
  <dc:creator>CampusPulse Project Team</dc:creator>
  <cp:lastModifiedBy>CampusPulse Project Team</cp:lastModifiedBy>
  <cp:revision>1</cp:revision>
  <dcterms:created xsi:type="dcterms:W3CDTF">2026-09-25T14:45:19Z</dcterms:created>
  <dcterms:modified xsi:type="dcterms:W3CDTF">2026-09-25T14:45:19Z</dcterms:modified>
</cp:coreProperties>
</file>